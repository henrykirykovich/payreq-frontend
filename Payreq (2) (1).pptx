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4.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heme/theme4.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6" r:id="rId3"/>
  </p:sldMasterIdLst>
  <p:notesMasterIdLst>
    <p:notesMasterId r:id="rId18"/>
  </p:notesMasterIdLst>
  <p:sldIdLst>
    <p:sldId id="257" r:id="rId4"/>
    <p:sldId id="268" r:id="rId5"/>
    <p:sldId id="266" r:id="rId6"/>
    <p:sldId id="265" r:id="rId7"/>
    <p:sldId id="258" r:id="rId8"/>
    <p:sldId id="274" r:id="rId9"/>
    <p:sldId id="275" r:id="rId10"/>
    <p:sldId id="276" r:id="rId11"/>
    <p:sldId id="277" r:id="rId12"/>
    <p:sldId id="278" r:id="rId13"/>
    <p:sldId id="279" r:id="rId14"/>
    <p:sldId id="256" r:id="rId15"/>
    <p:sldId id="280"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667428-50D7-704E-BAE8-4C729840AD97}" v="9" dt="2026-06-12T05:09:04.633"/>
    <p1510:client id="{D41F27F5-849D-0A6A-8FA6-941F191AE806}" v="29" dt="2026-06-12T01:59:33.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730"/>
  </p:normalViewPr>
  <p:slideViewPr>
    <p:cSldViewPr snapToGrid="0">
      <p:cViewPr varScale="1">
        <p:scale>
          <a:sx n="126" d="100"/>
          <a:sy n="126" d="100"/>
        </p:scale>
        <p:origin x="232" y="24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3476C9-7332-4910-BD5A-A0647A6648E1}" type="datetimeFigureOut">
              <a:rPr lang="en-US" smtClean="0"/>
              <a:t>6/12/26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90E41D-31C3-494F-8278-E90F1B6BE33B}" type="slidenum">
              <a:rPr lang="en-US" smtClean="0"/>
              <a:t>‹#›</a:t>
            </a:fld>
            <a:endParaRPr lang="en-US"/>
          </a:p>
        </p:txBody>
      </p:sp>
    </p:spTree>
    <p:extLst>
      <p:ext uri="{BB962C8B-B14F-4D97-AF65-F5344CB8AC3E}">
        <p14:creationId xmlns:p14="http://schemas.microsoft.com/office/powerpoint/2010/main" val="539793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p:nvPr>
        </p:nvSpPr>
        <p:spPr/>
        <p:txBody>
          <a:bodyPr/>
          <a:lstStyle/>
          <a:p>
            <a:r>
              <a:t>Introduce Payreq as a digital-first platform revolutionizing document delivery, billing, and payments by moving away from paper, post, and email. Highlight its secure, automated communications and payment processing. Emphasize its broad market reach and tailored solutions for billing, payroll, and </a:t>
            </a:r>
            <a:r>
              <a:rPr err="1"/>
              <a:t>eInvoicing</a:t>
            </a:r>
            <a:r>
              <a:t>. Note the benefits of secure digital mailboxes and flexible payment options. The image reflects </a:t>
            </a:r>
            <a:r>
              <a:rPr err="1"/>
              <a:t>Payreq’s</a:t>
            </a:r>
            <a:r>
              <a:t> modern, clean, and professional brand identity.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p:nvPr>
        </p:nvSpPr>
        <p:spPr/>
        <p:txBody>
          <a:bodyPr/>
          <a:lstStyle/>
          <a:p>
            <a:r>
              <a:t>This slide communicates the significance of completing the Payreq frontend migration to React.js. Emphasize how the entire user interface has been transformed, replacing the old legacy frontend with a modern, unified React codebase. Highlight the benefits for both users, such as consistent UI and faster navigation, and developers, including better maintainability and scalability. Use this slide to underline the foundational impact this migration has on </a:t>
            </a:r>
            <a:r>
              <a:rPr err="1"/>
              <a:t>Payreq's</a:t>
            </a:r>
            <a:r>
              <a:t> future growth and product quality.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t>Of course, we faced some challenges. One of the biggest challenges was understanding the legacy Ember code before rewriting it in React. We also had to resolve merge conflicts between team members and make sure the new screens looked exactly like the original ones.</a:t>
            </a:r>
          </a:p>
          <a:p>
            <a:pPr marL="171450" indent="-171450">
              <a:buFont typeface="Calibri"/>
              <a:buChar char="-"/>
            </a:pPr>
            <a:r>
              <a:rPr lang="en-US"/>
              <a:t>To overcome these challenges, we worked closely as a team, held regular meetings, reviewed each other's code, and used AI tools to better understand the existing application.</a:t>
            </a:r>
          </a:p>
          <a:p>
            <a:pPr marL="171450" indent="-171450">
              <a:buFont typeface="Calibri"/>
              <a:buChar char="-"/>
            </a:pPr>
            <a:r>
              <a:rPr lang="en-US"/>
              <a:t>Overall, this project gave us valuable experience working with a large codebase, collaborating as a development team, and modernizing a real-world application.</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D890E41D-31C3-494F-8278-E90F1B6BE33B}" type="slidenum">
              <a:rPr lang="en-US" smtClean="0"/>
              <a:t>11</a:t>
            </a:fld>
            <a:endParaRPr lang="en-US"/>
          </a:p>
        </p:txBody>
      </p:sp>
    </p:spTree>
    <p:extLst>
      <p:ext uri="{BB962C8B-B14F-4D97-AF65-F5344CB8AC3E}">
        <p14:creationId xmlns:p14="http://schemas.microsoft.com/office/powerpoint/2010/main" val="1038191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2.emf"/></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2.emf"/></Relationships>
</file>

<file path=ppt/slideLayouts/_rels/slideLayout4.xml.rels><?xml version="1.0" encoding="UTF-8"?><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6.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548640"/>
            <a:ext cx="11274552" cy="493776"/>
          </a:xfrm>
          <a:prstGeom prst="rect">
            <a:avLst/>
          </a:prstGeom>
        </p:spPr>
        <p:txBody>
          <a:bodyPr vert="horz"/>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327" y="282321"/>
            <a:ext cx="11274425" cy="266319"/>
          </a:xfrm>
        </p:spPr>
        <p:txBody>
          <a:bodyPr lIns="45720" tIns="45720" rIns="45720" bIns="45720">
            <a:normAutofit/>
          </a:bodyPr>
          <a:lstStyle>
            <a:lvl1pPr marL="0" indent="0">
              <a:buNone/>
              <a:defRPr sz="1000"/>
            </a:lvl1pPr>
          </a:lstStyle>
          <a:p>
            <a:pPr lvl="0"/>
            <a:r>
              <a:rPr lang="en-US"/>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0" name="Footer Placeholder 19">
            <a:extLst>
              <a:ext uri="{FF2B5EF4-FFF2-40B4-BE49-F238E27FC236}">
                <a16:creationId xmlns:a16="http://schemas.microsoft.com/office/drawing/2014/main" id="{74688652-31B3-A506-4AB3-CEFF14361099}"/>
              </a:ext>
            </a:extLst>
          </p:cNvPr>
          <p:cNvSpPr>
            <a:spLocks noGrp="1"/>
          </p:cNvSpPr>
          <p:nvPr>
            <p:ph type="ftr" sz="quarter" idx="16"/>
          </p:nvPr>
        </p:nvSpPr>
        <p:spPr/>
        <p:txBody>
          <a:bodyPr/>
          <a:lstStyle/>
          <a:p>
            <a:r>
              <a:rPr lang="en-US"/>
              <a:t>CONFIDENTIAL | DRAFT</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7198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548640"/>
            <a:ext cx="11274552" cy="493776"/>
          </a:xfrm>
          <a:prstGeom prst="rect">
            <a:avLst/>
          </a:prstGeom>
        </p:spPr>
        <p:txBody>
          <a:bodyPr vert="horz"/>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327" y="282321"/>
            <a:ext cx="11274425" cy="266319"/>
          </a:xfrm>
        </p:spPr>
        <p:txBody>
          <a:bodyPr lIns="45720" tIns="45720" rIns="45720" bIns="45720">
            <a:normAutofit/>
          </a:bodyPr>
          <a:lstStyle>
            <a:lvl1pPr marL="0" indent="0">
              <a:buNone/>
              <a:defRPr sz="1000"/>
            </a:lvl1pPr>
          </a:lstStyle>
          <a:p>
            <a:pPr lvl="0"/>
            <a:r>
              <a:rPr lang="en-US"/>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0" name="Footer Placeholder 19">
            <a:extLst>
              <a:ext uri="{FF2B5EF4-FFF2-40B4-BE49-F238E27FC236}">
                <a16:creationId xmlns:a16="http://schemas.microsoft.com/office/drawing/2014/main" id="{74688652-31B3-A506-4AB3-CEFF14361099}"/>
              </a:ext>
            </a:extLst>
          </p:cNvPr>
          <p:cNvSpPr>
            <a:spLocks noGrp="1"/>
          </p:cNvSpPr>
          <p:nvPr>
            <p:ph type="ftr" sz="quarter" idx="16"/>
          </p:nvPr>
        </p:nvSpPr>
        <p:spPr/>
        <p:txBody>
          <a:bodyPr/>
          <a:lstStyle/>
          <a:p>
            <a:r>
              <a:rPr lang="en-US"/>
              <a:t>CONFIDENTIAL | DRAFT</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548640"/>
            <a:ext cx="11274552" cy="493776"/>
          </a:xfrm>
          <a:prstGeom prst="rect">
            <a:avLst/>
          </a:prstGeom>
        </p:spPr>
        <p:txBody>
          <a:bodyPr vert="horz"/>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327" y="282321"/>
            <a:ext cx="11274425" cy="266319"/>
          </a:xfrm>
        </p:spPr>
        <p:txBody>
          <a:bodyPr lIns="45720" tIns="45720" rIns="45720" bIns="45720">
            <a:normAutofit/>
          </a:bodyPr>
          <a:lstStyle>
            <a:lvl1pPr marL="0" indent="0">
              <a:buNone/>
              <a:defRPr sz="1000"/>
            </a:lvl1pPr>
          </a:lstStyle>
          <a:p>
            <a:pPr lvl="0"/>
            <a:r>
              <a:rPr lang="en-US"/>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0" name="Footer Placeholder 19">
            <a:extLst>
              <a:ext uri="{FF2B5EF4-FFF2-40B4-BE49-F238E27FC236}">
                <a16:creationId xmlns:a16="http://schemas.microsoft.com/office/drawing/2014/main" id="{74688652-31B3-A506-4AB3-CEFF14361099}"/>
              </a:ext>
            </a:extLst>
          </p:cNvPr>
          <p:cNvSpPr>
            <a:spLocks noGrp="1"/>
          </p:cNvSpPr>
          <p:nvPr>
            <p:ph type="ftr" sz="quarter" idx="16"/>
          </p:nvPr>
        </p:nvSpPr>
        <p:spPr/>
        <p:txBody>
          <a:bodyPr/>
          <a:lstStyle/>
          <a:p>
            <a:r>
              <a:rPr lang="en-US"/>
              <a:t>CONFIDENTIAL | DRAFT</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Masters/_rels/slideMaster1.xml.rels><?xml version="1.0" encoding="UTF-8"?><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1.xml"/></Relationships>
</file>

<file path=ppt/slideMasters/_rels/slideMaster2.xml.rels><?xml version="1.0" encoding="UTF-8"?><Relationships xmlns="http://schemas.openxmlformats.org/package/2006/relationships"><Relationship Id="rId3" Type="http://schemas.openxmlformats.org/officeDocument/2006/relationships/tags" Target="../tags/tag3.xml"/><Relationship Id="rId2" Type="http://schemas.openxmlformats.org/officeDocument/2006/relationships/theme" Target="../theme/theme2.xml"/><Relationship Id="rId1" Type="http://schemas.openxmlformats.org/officeDocument/2006/relationships/slideLayout" Target="../slideLayouts/slideLayout3.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3.xml.rels><?xml version="1.0" encoding="UTF-8"?><Relationships xmlns="http://schemas.openxmlformats.org/package/2006/relationships"><Relationship Id="rId3" Type="http://schemas.openxmlformats.org/officeDocument/2006/relationships/tags" Target="../tags/tag5.xml"/><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4"/>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1ECE136C-E3A5-C2AE-FAC3-7DF4010CF370}"/>
              </a:ext>
            </a:extLst>
          </p:cNvPr>
          <p:cNvSpPr/>
          <p:nvPr userDrawn="1"/>
        </p:nvSpPr>
        <p:spPr>
          <a:xfrm>
            <a:off x="0" y="6492875"/>
            <a:ext cx="12192000" cy="3651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48640"/>
            <a:ext cx="11274552" cy="493776"/>
          </a:xfrm>
          <a:prstGeom prst="rect">
            <a:avLst/>
          </a:prstGeom>
        </p:spPr>
        <p:txBody>
          <a:bodyPr vert="horz" lIns="45720" tIns="45720" rIns="45720" bIns="0" rtlCol="0" anchor="ctr">
            <a:normAutofit/>
          </a:bodyPr>
          <a:lstStyle/>
          <a:p>
            <a:r>
              <a:rPr lang="en-US"/>
              <a:t>Click to edit Master title style</a:t>
            </a:r>
          </a:p>
        </p:txBody>
      </p:sp>
      <p:sp>
        <p:nvSpPr>
          <p:cNvPr id="3" name="Text Placeholder 2"/>
          <p:cNvSpPr>
            <a:spLocks noGrp="1"/>
          </p:cNvSpPr>
          <p:nvPr>
            <p:ph type="body" idx="1"/>
          </p:nvPr>
        </p:nvSpPr>
        <p:spPr>
          <a:xfrm>
            <a:off x="457200" y="1943099"/>
            <a:ext cx="11274552"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8E73282E-576F-D392-50AC-5A7DD537A159}"/>
              </a:ext>
            </a:extLst>
          </p:cNvPr>
          <p:cNvSpPr>
            <a:spLocks noGrp="1"/>
          </p:cNvSpPr>
          <p:nvPr>
            <p:ph type="ftr" sz="quarter" idx="3"/>
          </p:nvPr>
        </p:nvSpPr>
        <p:spPr>
          <a:xfrm>
            <a:off x="4037076" y="6533260"/>
            <a:ext cx="4114800" cy="258857"/>
          </a:xfrm>
          <a:prstGeom prst="rect">
            <a:avLst/>
          </a:prstGeom>
          <a:ln>
            <a:noFill/>
          </a:ln>
        </p:spPr>
        <p:txBody>
          <a:bodyPr vert="horz" lIns="45720" tIns="45720" rIns="45720" bIns="45720" rtlCol="0" anchor="ctr"/>
          <a:lstStyle>
            <a:lvl1pPr algn="ctr">
              <a:defRPr sz="1000">
                <a:solidFill>
                  <a:schemeClr val="bg1"/>
                </a:solidFill>
              </a:defRPr>
            </a:lvl1pPr>
          </a:lstStyle>
          <a:p>
            <a:r>
              <a:rPr lang="en-US"/>
              <a:t>CONFIDENTIAL | DRAFT</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33261"/>
            <a:ext cx="2743200" cy="258856"/>
          </a:xfrm>
          <a:prstGeom prst="rect">
            <a:avLst/>
          </a:prstGeom>
          <a:ln>
            <a:noFill/>
          </a:ln>
        </p:spPr>
        <p:txBody>
          <a:bodyPr vert="horz" lIns="45720" tIns="45720" rIns="45720" bIns="45720" rtlCol="0" anchor="ctr"/>
          <a:lstStyle>
            <a:lvl1pPr algn="r">
              <a:defRPr sz="1000">
                <a:solidFill>
                  <a:schemeClr val="bg1"/>
                </a:solidFill>
              </a:defRPr>
            </a:lvl1pPr>
          </a:lstStyle>
          <a:p>
            <a:fld id="{0122C274-3D99-4A24-ADE9-DD3F36DBA14D}" type="slidenum">
              <a:rPr lang="en-US" smtClean="0"/>
              <a:pPr/>
              <a:t>‹#›</a:t>
            </a:fld>
            <a:endParaRPr lang="en-US"/>
          </a:p>
        </p:txBody>
      </p:sp>
      <p:sp>
        <p:nvSpPr>
          <p:cNvPr id="4" name="Footer Placeholder 17">
            <a:extLst>
              <a:ext uri="{FF2B5EF4-FFF2-40B4-BE49-F238E27FC236}">
                <a16:creationId xmlns:a16="http://schemas.microsoft.com/office/drawing/2014/main" id="{FDB8E3CE-7117-C359-1BE9-6114324E49D4}"/>
              </a:ext>
            </a:extLst>
          </p:cNvPr>
          <p:cNvSpPr txBox="1">
            <a:spLocks/>
          </p:cNvSpPr>
          <p:nvPr userDrawn="1"/>
        </p:nvSpPr>
        <p:spPr>
          <a:xfrm>
            <a:off x="457200" y="6533260"/>
            <a:ext cx="3626069" cy="258857"/>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Copyright 2026</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8" r:id="rId1"/>
    <p:sldLayoutId id="2147483676" r:id="rId2"/>
  </p:sldLayoutIdLst>
  <p:hf hdr="0" dt="0"/>
  <p:txStyles>
    <p:titleStyle>
      <a:lvl1pPr algn="l" defTabSz="914400" rtl="0" eaLnBrk="1" latinLnBrk="0" hangingPunct="1">
        <a:lnSpc>
          <a:spcPct val="90000"/>
        </a:lnSpc>
        <a:spcBef>
          <a:spcPct val="0"/>
        </a:spcBef>
        <a:buNone/>
        <a:defRPr sz="2600" b="0" kern="120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3"/>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1ECE136C-E3A5-C2AE-FAC3-7DF4010CF370}"/>
              </a:ext>
            </a:extLst>
          </p:cNvPr>
          <p:cNvSpPr/>
          <p:nvPr userDrawn="1"/>
        </p:nvSpPr>
        <p:spPr>
          <a:xfrm>
            <a:off x="0" y="6492875"/>
            <a:ext cx="12192000" cy="3651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48640"/>
            <a:ext cx="11274552" cy="493776"/>
          </a:xfrm>
          <a:prstGeom prst="rect">
            <a:avLst/>
          </a:prstGeom>
        </p:spPr>
        <p:txBody>
          <a:bodyPr vert="horz" lIns="45720" tIns="45720" rIns="45720" bIns="0" rtlCol="0" anchor="ctr">
            <a:normAutofit/>
          </a:bodyPr>
          <a:lstStyle/>
          <a:p>
            <a:r>
              <a:rPr lang="en-US"/>
              <a:t>Click to edit Master title style</a:t>
            </a:r>
          </a:p>
        </p:txBody>
      </p:sp>
      <p:sp>
        <p:nvSpPr>
          <p:cNvPr id="3" name="Text Placeholder 2"/>
          <p:cNvSpPr>
            <a:spLocks noGrp="1"/>
          </p:cNvSpPr>
          <p:nvPr>
            <p:ph type="body" idx="1"/>
          </p:nvPr>
        </p:nvSpPr>
        <p:spPr>
          <a:xfrm>
            <a:off x="457200" y="1943099"/>
            <a:ext cx="11274552"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8E73282E-576F-D392-50AC-5A7DD537A159}"/>
              </a:ext>
            </a:extLst>
          </p:cNvPr>
          <p:cNvSpPr>
            <a:spLocks noGrp="1"/>
          </p:cNvSpPr>
          <p:nvPr>
            <p:ph type="ftr" sz="quarter" idx="3"/>
          </p:nvPr>
        </p:nvSpPr>
        <p:spPr>
          <a:xfrm>
            <a:off x="4037076" y="6533260"/>
            <a:ext cx="4114800" cy="258857"/>
          </a:xfrm>
          <a:prstGeom prst="rect">
            <a:avLst/>
          </a:prstGeom>
          <a:ln>
            <a:noFill/>
          </a:ln>
        </p:spPr>
        <p:txBody>
          <a:bodyPr vert="horz" lIns="45720" tIns="45720" rIns="45720" bIns="45720" rtlCol="0" anchor="ctr"/>
          <a:lstStyle>
            <a:lvl1pPr algn="ctr">
              <a:defRPr sz="1000">
                <a:solidFill>
                  <a:schemeClr val="bg1"/>
                </a:solidFill>
              </a:defRPr>
            </a:lvl1pPr>
          </a:lstStyle>
          <a:p>
            <a:r>
              <a:rPr lang="en-US"/>
              <a:t>CONFIDENTIAL | DRAFT</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33261"/>
            <a:ext cx="2743200" cy="258856"/>
          </a:xfrm>
          <a:prstGeom prst="rect">
            <a:avLst/>
          </a:prstGeom>
          <a:ln>
            <a:noFill/>
          </a:ln>
        </p:spPr>
        <p:txBody>
          <a:bodyPr vert="horz" lIns="45720" tIns="45720" rIns="45720" bIns="45720" rtlCol="0" anchor="ctr"/>
          <a:lstStyle>
            <a:lvl1pPr algn="r">
              <a:defRPr sz="1000">
                <a:solidFill>
                  <a:schemeClr val="bg1"/>
                </a:solidFill>
              </a:defRPr>
            </a:lvl1pPr>
          </a:lstStyle>
          <a:p>
            <a:fld id="{0122C274-3D99-4A24-ADE9-DD3F36DBA14D}" type="slidenum">
              <a:rPr lang="en-US" smtClean="0"/>
              <a:pPr/>
              <a:t>‹#›</a:t>
            </a:fld>
            <a:endParaRPr lang="en-US"/>
          </a:p>
        </p:txBody>
      </p:sp>
      <p:sp>
        <p:nvSpPr>
          <p:cNvPr id="4" name="Footer Placeholder 17">
            <a:extLst>
              <a:ext uri="{FF2B5EF4-FFF2-40B4-BE49-F238E27FC236}">
                <a16:creationId xmlns:a16="http://schemas.microsoft.com/office/drawing/2014/main" id="{FDB8E3CE-7117-C359-1BE9-6114324E49D4}"/>
              </a:ext>
            </a:extLst>
          </p:cNvPr>
          <p:cNvSpPr txBox="1">
            <a:spLocks/>
          </p:cNvSpPr>
          <p:nvPr userDrawn="1"/>
        </p:nvSpPr>
        <p:spPr>
          <a:xfrm>
            <a:off x="457200" y="6533260"/>
            <a:ext cx="3626069" cy="258857"/>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Copyright 2026</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l" defTabSz="914400" rtl="0" eaLnBrk="1" latinLnBrk="0" hangingPunct="1">
        <a:lnSpc>
          <a:spcPct val="90000"/>
        </a:lnSpc>
        <a:spcBef>
          <a:spcPct val="0"/>
        </a:spcBef>
        <a:buNone/>
        <a:defRPr sz="2600" b="0" kern="120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3"/>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1ECE136C-E3A5-C2AE-FAC3-7DF4010CF370}"/>
              </a:ext>
            </a:extLst>
          </p:cNvPr>
          <p:cNvSpPr/>
          <p:nvPr userDrawn="1"/>
        </p:nvSpPr>
        <p:spPr>
          <a:xfrm>
            <a:off x="0" y="6492875"/>
            <a:ext cx="12192000" cy="36512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48640"/>
            <a:ext cx="11274552" cy="493776"/>
          </a:xfrm>
          <a:prstGeom prst="rect">
            <a:avLst/>
          </a:prstGeom>
        </p:spPr>
        <p:txBody>
          <a:bodyPr vert="horz" lIns="45720" tIns="45720" rIns="45720" bIns="0" rtlCol="0" anchor="ctr">
            <a:normAutofit/>
          </a:bodyPr>
          <a:lstStyle/>
          <a:p>
            <a:r>
              <a:rPr lang="en-US"/>
              <a:t>Click to edit Master title style</a:t>
            </a:r>
          </a:p>
        </p:txBody>
      </p:sp>
      <p:sp>
        <p:nvSpPr>
          <p:cNvPr id="3" name="Text Placeholder 2"/>
          <p:cNvSpPr>
            <a:spLocks noGrp="1"/>
          </p:cNvSpPr>
          <p:nvPr>
            <p:ph type="body" idx="1"/>
          </p:nvPr>
        </p:nvSpPr>
        <p:spPr>
          <a:xfrm>
            <a:off x="457200" y="1943099"/>
            <a:ext cx="11274552"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8E73282E-576F-D392-50AC-5A7DD537A159}"/>
              </a:ext>
            </a:extLst>
          </p:cNvPr>
          <p:cNvSpPr>
            <a:spLocks noGrp="1"/>
          </p:cNvSpPr>
          <p:nvPr>
            <p:ph type="ftr" sz="quarter" idx="3"/>
          </p:nvPr>
        </p:nvSpPr>
        <p:spPr>
          <a:xfrm>
            <a:off x="4037076" y="6533260"/>
            <a:ext cx="4114800" cy="258857"/>
          </a:xfrm>
          <a:prstGeom prst="rect">
            <a:avLst/>
          </a:prstGeom>
          <a:ln>
            <a:noFill/>
          </a:ln>
        </p:spPr>
        <p:txBody>
          <a:bodyPr vert="horz" lIns="45720" tIns="45720" rIns="45720" bIns="45720" rtlCol="0" anchor="ctr"/>
          <a:lstStyle>
            <a:lvl1pPr algn="ctr">
              <a:defRPr sz="1000">
                <a:solidFill>
                  <a:schemeClr val="bg1"/>
                </a:solidFill>
              </a:defRPr>
            </a:lvl1pPr>
          </a:lstStyle>
          <a:p>
            <a:r>
              <a:rPr lang="en-US"/>
              <a:t>CONFIDENTIAL | DRAFT</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33261"/>
            <a:ext cx="2743200" cy="258856"/>
          </a:xfrm>
          <a:prstGeom prst="rect">
            <a:avLst/>
          </a:prstGeom>
          <a:ln>
            <a:noFill/>
          </a:ln>
        </p:spPr>
        <p:txBody>
          <a:bodyPr vert="horz" lIns="45720" tIns="45720" rIns="45720" bIns="45720" rtlCol="0" anchor="ctr"/>
          <a:lstStyle>
            <a:lvl1pPr algn="r">
              <a:defRPr sz="1000">
                <a:solidFill>
                  <a:schemeClr val="bg1"/>
                </a:solidFill>
              </a:defRPr>
            </a:lvl1pPr>
          </a:lstStyle>
          <a:p>
            <a:fld id="{0122C274-3D99-4A24-ADE9-DD3F36DBA14D}" type="slidenum">
              <a:rPr lang="en-US" smtClean="0"/>
              <a:pPr/>
              <a:t>‹#›</a:t>
            </a:fld>
            <a:endParaRPr lang="en-US"/>
          </a:p>
        </p:txBody>
      </p:sp>
      <p:sp>
        <p:nvSpPr>
          <p:cNvPr id="4" name="Footer Placeholder 17">
            <a:extLst>
              <a:ext uri="{FF2B5EF4-FFF2-40B4-BE49-F238E27FC236}">
                <a16:creationId xmlns:a16="http://schemas.microsoft.com/office/drawing/2014/main" id="{FDB8E3CE-7117-C359-1BE9-6114324E49D4}"/>
              </a:ext>
            </a:extLst>
          </p:cNvPr>
          <p:cNvSpPr txBox="1">
            <a:spLocks/>
          </p:cNvSpPr>
          <p:nvPr userDrawn="1"/>
        </p:nvSpPr>
        <p:spPr>
          <a:xfrm>
            <a:off x="457200" y="6533260"/>
            <a:ext cx="3626069" cy="258857"/>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Copyright 2026</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5" r:id="rId1"/>
  </p:sldLayoutIdLst>
  <p:hf hdr="0" dt="0"/>
  <p:txStyles>
    <p:titleStyle>
      <a:lvl1pPr algn="l" defTabSz="914400" rtl="0" eaLnBrk="1" latinLnBrk="0" hangingPunct="1">
        <a:lnSpc>
          <a:spcPct val="90000"/>
        </a:lnSpc>
        <a:spcBef>
          <a:spcPct val="0"/>
        </a:spcBef>
        <a:buNone/>
        <a:defRPr sz="2600" b="0" kern="120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9.xml"/><Relationship Id="rId7" Type="http://schemas.openxmlformats.org/officeDocument/2006/relationships/image" Target="../media/image3.e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oleObject" Target="../embeddings/oleObject3.bin"/><Relationship Id="rId5" Type="http://schemas.openxmlformats.org/officeDocument/2006/relationships/slideLayout" Target="../slideLayouts/slideLayout1.xml"/><Relationship Id="rId4" Type="http://schemas.openxmlformats.org/officeDocument/2006/relationships/tags" Target="../tags/tag10.xml"/></Relationships>
</file>

<file path=ppt/slides/_rels/slide2.xml.rels><?xml version="1.0" encoding="UTF-8"?><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slideLayout" Target="../slideLayouts/slideLayout1.xml"/></Relationships>
</file>

<file path=ppt/slides/_rels/slide3.xml.rels><?xml version="1.0" encoding="UTF-8"?><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media/image6.emf"/><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oleObject" Target="../embeddings/oleObject4.bin"/><Relationship Id="rId5" Type="http://schemas.openxmlformats.org/officeDocument/2006/relationships/tags" Target="../tags/tag18.xml"/><Relationship Id="rId10" Type="http://schemas.openxmlformats.org/officeDocument/2006/relationships/image" Target="../media/image5.png"/><Relationship Id="rId4" Type="http://schemas.openxmlformats.org/officeDocument/2006/relationships/tags" Target="../tags/tag17.xml"/><Relationship Id="rId9" Type="http://schemas.openxmlformats.org/officeDocument/2006/relationships/notesSlide" Target="../notesSlides/notesSlide1.xml"/></Relationships>
</file>

<file path=ppt/slides/_rels/slide4.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5.xml.rels><?xml version="1.0" encoding="UTF-8"?><Relationships xmlns="http://schemas.openxmlformats.org/package/2006/relationships"><Relationship Id="rId8" Type="http://schemas.openxmlformats.org/officeDocument/2006/relationships/tags" Target="../tags/tag28.xml"/><Relationship Id="rId13" Type="http://schemas.openxmlformats.org/officeDocument/2006/relationships/image" Target="../media/image10.emf"/><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oleObject" Target="../embeddings/oleObject5.bin"/><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notesSlide" Target="../notesSlides/notesSlide2.xml"/><Relationship Id="rId5" Type="http://schemas.openxmlformats.org/officeDocument/2006/relationships/tags" Target="../tags/tag25.xml"/><Relationship Id="rId10" Type="http://schemas.openxmlformats.org/officeDocument/2006/relationships/slideLayout" Target="../slideLayouts/slideLayout3.xml"/><Relationship Id="rId4" Type="http://schemas.openxmlformats.org/officeDocument/2006/relationships/tags" Target="../tags/tag24.xml"/><Relationship Id="rId9" Type="http://schemas.openxmlformats.org/officeDocument/2006/relationships/tags" Target="../tags/tag29.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841D8-E128-519B-9B40-B6EAC3132537}"/>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EACA4831-DF7B-6961-1932-CEAC481E7B0C}"/>
              </a:ext>
            </a:extLst>
          </p:cNvPr>
          <p:cNvGraphicFramePr>
            <a:graphicFrameLocks noChangeAspect="1"/>
          </p:cNvGraphicFramePr>
          <p:nvPr>
            <p:custDataLst>
              <p:tags r:id="rId2"/>
            </p:custDataLst>
            <p:extLst>
              <p:ext uri="{D42A27DB-BD31-4B8C-83A1-F6EECF244321}">
                <p14:modId xmlns:p14="http://schemas.microsoft.com/office/powerpoint/2010/main" val="16012458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6" imgW="7772400" imgH="10058400" progId="TCLayout.ActiveDocument.1">
                  <p:embed/>
                </p:oleObj>
              </mc:Choice>
              <mc:Fallback>
                <p:oleObj name="think-cell Slide" r:id="rId6" imgW="7772400" imgH="10058400" progId="TCLayout.ActiveDocument.1">
                  <p:embed/>
                  <p:pic>
                    <p:nvPicPr>
                      <p:cNvPr id="15" name="think-cell data - do not delete" hidden="1">
                        <a:extLst>
                          <a:ext uri="{FF2B5EF4-FFF2-40B4-BE49-F238E27FC236}">
                            <a16:creationId xmlns:a16="http://schemas.microsoft.com/office/drawing/2014/main" id="{EACA4831-DF7B-6961-1932-CEAC481E7B0C}"/>
                          </a:ext>
                        </a:extLst>
                      </p:cNvPr>
                      <p:cNvPicPr/>
                      <p:nvPr/>
                    </p:nvPicPr>
                    <p:blipFill>
                      <a:blip r:embed="rId7"/>
                      <a:stretch>
                        <a:fillRect/>
                      </a:stretch>
                    </p:blipFill>
                    <p:spPr>
                      <a:xfrm>
                        <a:off x="1588" y="1588"/>
                        <a:ext cx="1227" cy="1588"/>
                      </a:xfrm>
                      <a:prstGeom prst="rect">
                        <a:avLst/>
                      </a:prstGeom>
                    </p:spPr>
                  </p:pic>
                </p:oleObj>
              </mc:Fallback>
            </mc:AlternateContent>
          </a:graphicData>
        </a:graphic>
      </p:graphicFrame>
      <p:pic>
        <p:nvPicPr>
          <p:cNvPr id="14" name="Content Placeholder 13" descr="A screenshot of a graph  AI-generated content may be incorrect.">
            <a:extLst>
              <a:ext uri="{FF2B5EF4-FFF2-40B4-BE49-F238E27FC236}">
                <a16:creationId xmlns:a16="http://schemas.microsoft.com/office/drawing/2014/main" id="{22C071E9-1AC7-BDBC-36D6-70F8AC903DEE}"/>
              </a:ext>
            </a:extLst>
          </p:cNvPr>
          <p:cNvPicPr>
            <a:picLocks noGrp="1" noChangeAspect="1"/>
          </p:cNvPicPr>
          <p:nvPr>
            <p:ph idx="1"/>
          </p:nvPr>
        </p:nvPicPr>
        <p:blipFill>
          <a:blip r:embed="rId8"/>
          <a:stretch>
            <a:fillRect/>
          </a:stretch>
        </p:blipFill>
        <p:spPr>
          <a:xfrm>
            <a:off x="2284476" y="1865472"/>
            <a:ext cx="7620000" cy="4286250"/>
          </a:xfrm>
          <a:prstGeom prst="rect">
            <a:avLst/>
          </a:prstGeom>
        </p:spPr>
      </p:pic>
      <p:sp>
        <p:nvSpPr>
          <p:cNvPr id="3" name="Title 2">
            <a:extLst>
              <a:ext uri="{FF2B5EF4-FFF2-40B4-BE49-F238E27FC236}">
                <a16:creationId xmlns:a16="http://schemas.microsoft.com/office/drawing/2014/main" id="{2B4FFD45-CB07-C870-4C78-0EA9D66D76BB}"/>
              </a:ext>
            </a:extLst>
          </p:cNvPr>
          <p:cNvSpPr>
            <a:spLocks noGrp="1"/>
          </p:cNvSpPr>
          <p:nvPr>
            <p:ph type="title"/>
          </p:nvPr>
        </p:nvSpPr>
        <p:spPr/>
        <p:txBody>
          <a:bodyPr/>
          <a:lstStyle/>
          <a:p>
            <a:endParaRPr lang="en-US" noProof="1"/>
          </a:p>
        </p:txBody>
      </p:sp>
      <p:sp>
        <p:nvSpPr>
          <p:cNvPr id="4" name="Text Placeholder 3">
            <a:extLst>
              <a:ext uri="{FF2B5EF4-FFF2-40B4-BE49-F238E27FC236}">
                <a16:creationId xmlns:a16="http://schemas.microsoft.com/office/drawing/2014/main" id="{C314ED6D-89F1-CCA6-EDEB-2A0513E2F7C9}"/>
              </a:ext>
            </a:extLst>
          </p:cNvPr>
          <p:cNvSpPr>
            <a:spLocks noGrp="1"/>
          </p:cNvSpPr>
          <p:nvPr>
            <p:ph type="body" sz="quarter" idx="14"/>
          </p:nvPr>
        </p:nvSpPr>
        <p:spPr/>
        <p:txBody>
          <a:bodyPr/>
          <a:lstStyle/>
          <a:p>
            <a:endParaRPr lang="en-US" noProof="1"/>
          </a:p>
        </p:txBody>
      </p:sp>
      <p:sp>
        <p:nvSpPr>
          <p:cNvPr id="5" name="Text Placeholder 4">
            <a:extLst>
              <a:ext uri="{FF2B5EF4-FFF2-40B4-BE49-F238E27FC236}">
                <a16:creationId xmlns:a16="http://schemas.microsoft.com/office/drawing/2014/main" id="{321939C5-8D10-2859-8B0E-469C88B88170}"/>
              </a:ext>
            </a:extLst>
          </p:cNvPr>
          <p:cNvSpPr>
            <a:spLocks noGrp="1"/>
          </p:cNvSpPr>
          <p:nvPr>
            <p:ph type="body" sz="quarter" idx="15"/>
          </p:nvPr>
        </p:nvSpPr>
        <p:spPr/>
        <p:txBody>
          <a:bodyPr/>
          <a:lstStyle/>
          <a:p>
            <a:endParaRPr lang="en-US" noProof="1"/>
          </a:p>
        </p:txBody>
      </p:sp>
      <p:sp>
        <p:nvSpPr>
          <p:cNvPr id="6" name="Footer Placeholder 5">
            <a:extLst>
              <a:ext uri="{FF2B5EF4-FFF2-40B4-BE49-F238E27FC236}">
                <a16:creationId xmlns:a16="http://schemas.microsoft.com/office/drawing/2014/main" id="{B9EF8E5F-6C37-7A01-DE84-118B53D4D3AE}"/>
              </a:ext>
            </a:extLst>
          </p:cNvPr>
          <p:cNvSpPr>
            <a:spLocks noGrp="1"/>
          </p:cNvSpPr>
          <p:nvPr>
            <p:ph type="ftr" sz="quarter" idx="16"/>
          </p:nvPr>
        </p:nvSpPr>
        <p:spPr/>
        <p:txBody>
          <a:bodyPr/>
          <a:lstStyle/>
          <a:p>
            <a:r>
              <a:rPr lang="en-US" noProof="1"/>
              <a:t>CONFIDENTIAL | DRAFT</a:t>
            </a:r>
          </a:p>
        </p:txBody>
      </p:sp>
      <p:sp>
        <p:nvSpPr>
          <p:cNvPr id="7" name="Slide Number Placeholder 6">
            <a:extLst>
              <a:ext uri="{FF2B5EF4-FFF2-40B4-BE49-F238E27FC236}">
                <a16:creationId xmlns:a16="http://schemas.microsoft.com/office/drawing/2014/main" id="{9A6C9BBD-2871-3B0B-D139-AFFD22E87C15}"/>
              </a:ext>
            </a:extLst>
          </p:cNvPr>
          <p:cNvSpPr>
            <a:spLocks noGrp="1"/>
          </p:cNvSpPr>
          <p:nvPr>
            <p:ph type="sldNum" sz="quarter" idx="17"/>
          </p:nvPr>
        </p:nvSpPr>
        <p:spPr/>
        <p:txBody>
          <a:bodyPr/>
          <a:lstStyle/>
          <a:p>
            <a:fld id="{0122C274-3D99-4A24-ADE9-DD3F36DBA14D}" type="slidenum">
              <a:rPr lang="en-US" noProof="1" smtClean="0"/>
              <a:t>1</a:t>
            </a:fld>
            <a:endParaRPr lang="en-US" noProof="1"/>
          </a:p>
        </p:txBody>
      </p:sp>
      <p:sp>
        <p:nvSpPr>
          <p:cNvPr id="8" name="Rectangle 7">
            <a:extLst>
              <a:ext uri="{FF2B5EF4-FFF2-40B4-BE49-F238E27FC236}">
                <a16:creationId xmlns:a16="http://schemas.microsoft.com/office/drawing/2014/main" id="{4EBB82F2-782D-E66E-29C4-E98AFD54D293}"/>
              </a:ext>
            </a:extLst>
          </p:cNvPr>
          <p:cNvSpPr/>
          <p:nvPr/>
        </p:nvSpPr>
        <p:spPr>
          <a:xfrm>
            <a:off x="-3181" y="282321"/>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noProof="1">
              <a:cs typeface="Arial"/>
            </a:endParaRPr>
          </a:p>
        </p:txBody>
      </p:sp>
      <p:sp>
        <p:nvSpPr>
          <p:cNvPr id="9" name="Right Triangle 8">
            <a:extLst>
              <a:ext uri="{FF2B5EF4-FFF2-40B4-BE49-F238E27FC236}">
                <a16:creationId xmlns:a16="http://schemas.microsoft.com/office/drawing/2014/main" id="{9153C1C9-6683-7167-9AD1-807F30A9AD8A}"/>
              </a:ext>
            </a:extLst>
          </p:cNvPr>
          <p:cNvSpPr/>
          <p:nvPr/>
        </p:nvSpPr>
        <p:spPr>
          <a:xfrm rot="10800000" flipH="1">
            <a:off x="-3175" y="-1334"/>
            <a:ext cx="1348740" cy="3948865"/>
          </a:xfrm>
          <a:prstGeom prst="rtTriangle">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Right Triangle 9">
            <a:extLst>
              <a:ext uri="{FF2B5EF4-FFF2-40B4-BE49-F238E27FC236}">
                <a16:creationId xmlns:a16="http://schemas.microsoft.com/office/drawing/2014/main" id="{F736F914-7213-89CF-F670-DB4EC114B688}"/>
              </a:ext>
            </a:extLst>
          </p:cNvPr>
          <p:cNvSpPr/>
          <p:nvPr/>
        </p:nvSpPr>
        <p:spPr>
          <a:xfrm rot="10800000" flipH="1" flipV="1">
            <a:off x="-3176" y="3377025"/>
            <a:ext cx="1107147" cy="3480975"/>
          </a:xfrm>
          <a:prstGeom prst="rtTriangle">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3" name="Right Triangle 12">
            <a:extLst>
              <a:ext uri="{FF2B5EF4-FFF2-40B4-BE49-F238E27FC236}">
                <a16:creationId xmlns:a16="http://schemas.microsoft.com/office/drawing/2014/main" id="{CC52A6EA-210C-6ED1-AE43-D96E5F426367}"/>
              </a:ext>
            </a:extLst>
          </p:cNvPr>
          <p:cNvSpPr/>
          <p:nvPr/>
        </p:nvSpPr>
        <p:spPr>
          <a:xfrm rot="10800000">
            <a:off x="10381784" y="-1332"/>
            <a:ext cx="1807035" cy="6027038"/>
          </a:xfrm>
          <a:prstGeom prst="rtTriangle">
            <a:avLst/>
          </a:prstGeom>
          <a:solidFill>
            <a:schemeClr val="accent4">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1" name="Right Triangle 10">
            <a:extLst>
              <a:ext uri="{FF2B5EF4-FFF2-40B4-BE49-F238E27FC236}">
                <a16:creationId xmlns:a16="http://schemas.microsoft.com/office/drawing/2014/main" id="{8E8E72C5-7021-61FF-6A9B-2E53B474A653}"/>
              </a:ext>
            </a:extLst>
          </p:cNvPr>
          <p:cNvSpPr/>
          <p:nvPr/>
        </p:nvSpPr>
        <p:spPr>
          <a:xfrm rot="10800000" flipV="1">
            <a:off x="10268581" y="1308735"/>
            <a:ext cx="1923418" cy="5549551"/>
          </a:xfrm>
          <a:prstGeom prst="rtTriangle">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2" name="Right Triangle 11">
            <a:extLst>
              <a:ext uri="{FF2B5EF4-FFF2-40B4-BE49-F238E27FC236}">
                <a16:creationId xmlns:a16="http://schemas.microsoft.com/office/drawing/2014/main" id="{A4E32257-2282-3910-3BE0-F28671B71871}"/>
              </a:ext>
            </a:extLst>
          </p:cNvPr>
          <p:cNvSpPr/>
          <p:nvPr/>
        </p:nvSpPr>
        <p:spPr>
          <a:xfrm rot="10800000" flipV="1">
            <a:off x="11487149" y="1308162"/>
            <a:ext cx="708025" cy="5549551"/>
          </a:xfrm>
          <a:prstGeom prst="rtTriangle">
            <a:avLst/>
          </a:prstGeom>
          <a:solidFill>
            <a:schemeClr val="accent4">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7" name="Title 1">
            <a:extLst>
              <a:ext uri="{FF2B5EF4-FFF2-40B4-BE49-F238E27FC236}">
                <a16:creationId xmlns:a16="http://schemas.microsoft.com/office/drawing/2014/main" id="{3C6AFBD8-9636-8737-714F-A680F244855A}"/>
              </a:ext>
            </a:extLst>
          </p:cNvPr>
          <p:cNvSpPr txBox="1">
            <a:spLocks/>
          </p:cNvSpPr>
          <p:nvPr>
            <p:custDataLst>
              <p:tags r:id="rId3"/>
            </p:custDataLst>
          </p:nvPr>
        </p:nvSpPr>
        <p:spPr>
          <a:xfrm>
            <a:off x="733710" y="2220841"/>
            <a:ext cx="11773348" cy="2258187"/>
          </a:xfrm>
          <a:prstGeom prst="rect">
            <a:avLst/>
          </a:prstGeom>
        </p:spPr>
        <p:txBody>
          <a:bodyPr vert="horz" lIns="91440" tIns="45720" rIns="91440" bIns="0" rtlCol="0" anchor="b">
            <a:normAutofit/>
          </a:bodyPr>
          <a:lstStyle>
            <a:lvl1pPr algn="l" defTabSz="914400" rtl="0" eaLnBrk="1" latinLnBrk="0" hangingPunct="1">
              <a:lnSpc>
                <a:spcPct val="90000"/>
              </a:lnSpc>
              <a:spcBef>
                <a:spcPct val="0"/>
              </a:spcBef>
              <a:buNone/>
              <a:defRPr sz="2600" b="0" kern="1200">
                <a:solidFill>
                  <a:schemeClr val="tx1"/>
                </a:solidFill>
                <a:latin typeface="+mj-lt"/>
                <a:ea typeface="+mj-ea"/>
                <a:cs typeface="Arial" panose="020B0604020202020204" pitchFamily="34" charset="0"/>
              </a:defRPr>
            </a:lvl1pPr>
          </a:lstStyle>
          <a:p>
            <a:r>
              <a:rPr lang="en-US" sz="4000" err="1">
                <a:solidFill>
                  <a:schemeClr val="bg1"/>
                </a:solidFill>
              </a:rPr>
              <a:t>Payreq</a:t>
            </a:r>
            <a:r>
              <a:rPr lang="en-US" sz="4000">
                <a:solidFill>
                  <a:schemeClr val="bg1"/>
                </a:solidFill>
              </a:rPr>
              <a:t> Frontend</a:t>
            </a:r>
          </a:p>
          <a:p>
            <a:endParaRPr lang="en-US" sz="4000">
              <a:solidFill>
                <a:schemeClr val="bg1"/>
              </a:solidFill>
            </a:endParaRPr>
          </a:p>
          <a:p>
            <a:r>
              <a:rPr lang="en-US" sz="4000">
                <a:solidFill>
                  <a:schemeClr val="bg1"/>
                </a:solidFill>
              </a:rPr>
              <a:t>Ember to React Migration</a:t>
            </a:r>
            <a:endParaRPr lang="en-US" sz="3800" noProof="1">
              <a:solidFill>
                <a:schemeClr val="bg1"/>
              </a:solidFill>
              <a:latin typeface="+mn-lt"/>
            </a:endParaRPr>
          </a:p>
        </p:txBody>
      </p:sp>
      <p:sp>
        <p:nvSpPr>
          <p:cNvPr id="16" name="Subtitle 2">
            <a:extLst>
              <a:ext uri="{FF2B5EF4-FFF2-40B4-BE49-F238E27FC236}">
                <a16:creationId xmlns:a16="http://schemas.microsoft.com/office/drawing/2014/main" id="{54313C53-A3F5-22F8-65A7-64DE65E0B3C8}"/>
              </a:ext>
            </a:extLst>
          </p:cNvPr>
          <p:cNvSpPr txBox="1">
            <a:spLocks/>
          </p:cNvSpPr>
          <p:nvPr>
            <p:custDataLst>
              <p:tags r:id="rId4"/>
            </p:custDataLst>
          </p:nvPr>
        </p:nvSpPr>
        <p:spPr>
          <a:xfrm>
            <a:off x="1103971" y="5464118"/>
            <a:ext cx="7133517" cy="5939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noProof="1">
                <a:solidFill>
                  <a:schemeClr val="bg1"/>
                </a:solidFill>
              </a:rPr>
              <a:t>June 12, 2026</a:t>
            </a:r>
          </a:p>
        </p:txBody>
      </p:sp>
    </p:spTree>
    <p:custDataLst>
      <p:tags r:id="rId1"/>
    </p:custDataLst>
    <p:extLst>
      <p:ext uri="{BB962C8B-B14F-4D97-AF65-F5344CB8AC3E}">
        <p14:creationId xmlns:p14="http://schemas.microsoft.com/office/powerpoint/2010/main" val="2331437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42010-2A00-FEEA-C6B6-09A3581C364F}"/>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6C76F838-1108-06AC-421F-CB4317C8C822}"/>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5" name="think-cell data - do not delete" hidden="1">
                        <a:extLst>
                          <a:ext uri="{FF2B5EF4-FFF2-40B4-BE49-F238E27FC236}">
                            <a16:creationId xmlns:a16="http://schemas.microsoft.com/office/drawing/2014/main" id="{6C76F838-1108-06AC-421F-CB4317C8C822}"/>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8D99761B-49E5-B26B-D8A2-2539D389629B}"/>
              </a:ext>
            </a:extLst>
          </p:cNvPr>
          <p:cNvSpPr>
            <a:spLocks noGrp="1"/>
          </p:cNvSpPr>
          <p:nvPr>
            <p:ph idx="1"/>
          </p:nvPr>
        </p:nvSpPr>
        <p:spPr/>
        <p:txBody>
          <a:bodyPr/>
          <a:lstStyle/>
          <a:p>
            <a:endParaRPr lang="en-US" noProof="1"/>
          </a:p>
        </p:txBody>
      </p:sp>
      <p:sp>
        <p:nvSpPr>
          <p:cNvPr id="3" name="Title 2">
            <a:extLst>
              <a:ext uri="{FF2B5EF4-FFF2-40B4-BE49-F238E27FC236}">
                <a16:creationId xmlns:a16="http://schemas.microsoft.com/office/drawing/2014/main" id="{3403E991-4F9F-FCAA-78DD-80321F96264E}"/>
              </a:ext>
            </a:extLst>
          </p:cNvPr>
          <p:cNvSpPr>
            <a:spLocks noGrp="1"/>
          </p:cNvSpPr>
          <p:nvPr>
            <p:ph type="title"/>
          </p:nvPr>
        </p:nvSpPr>
        <p:spPr/>
        <p:txBody>
          <a:bodyPr/>
          <a:lstStyle/>
          <a:p>
            <a:endParaRPr lang="en-US" noProof="1"/>
          </a:p>
        </p:txBody>
      </p:sp>
      <p:sp>
        <p:nvSpPr>
          <p:cNvPr id="4" name="Text Placeholder 3">
            <a:extLst>
              <a:ext uri="{FF2B5EF4-FFF2-40B4-BE49-F238E27FC236}">
                <a16:creationId xmlns:a16="http://schemas.microsoft.com/office/drawing/2014/main" id="{C0B2E977-429E-E8CB-9650-17B8D6DCA9C1}"/>
              </a:ext>
            </a:extLst>
          </p:cNvPr>
          <p:cNvSpPr>
            <a:spLocks noGrp="1"/>
          </p:cNvSpPr>
          <p:nvPr>
            <p:ph type="body" sz="quarter" idx="14"/>
          </p:nvPr>
        </p:nvSpPr>
        <p:spPr/>
        <p:txBody>
          <a:bodyPr/>
          <a:lstStyle/>
          <a:p>
            <a:endParaRPr lang="en-US" noProof="1"/>
          </a:p>
        </p:txBody>
      </p:sp>
      <p:sp>
        <p:nvSpPr>
          <p:cNvPr id="5" name="Text Placeholder 4">
            <a:extLst>
              <a:ext uri="{FF2B5EF4-FFF2-40B4-BE49-F238E27FC236}">
                <a16:creationId xmlns:a16="http://schemas.microsoft.com/office/drawing/2014/main" id="{C47B25D1-8638-2B55-DB55-DD4DFAD855BE}"/>
              </a:ext>
            </a:extLst>
          </p:cNvPr>
          <p:cNvSpPr>
            <a:spLocks noGrp="1"/>
          </p:cNvSpPr>
          <p:nvPr>
            <p:ph type="body" sz="quarter" idx="15"/>
          </p:nvPr>
        </p:nvSpPr>
        <p:spPr/>
        <p:txBody>
          <a:bodyPr/>
          <a:lstStyle/>
          <a:p>
            <a:endParaRPr lang="en-US" noProof="1"/>
          </a:p>
        </p:txBody>
      </p:sp>
      <p:sp>
        <p:nvSpPr>
          <p:cNvPr id="6" name="Footer Placeholder 5">
            <a:extLst>
              <a:ext uri="{FF2B5EF4-FFF2-40B4-BE49-F238E27FC236}">
                <a16:creationId xmlns:a16="http://schemas.microsoft.com/office/drawing/2014/main" id="{FF2B40C4-12D9-AE68-0941-822D7885C288}"/>
              </a:ext>
            </a:extLst>
          </p:cNvPr>
          <p:cNvSpPr>
            <a:spLocks noGrp="1"/>
          </p:cNvSpPr>
          <p:nvPr>
            <p:ph type="ftr" sz="quarter" idx="16"/>
          </p:nvPr>
        </p:nvSpPr>
        <p:spPr/>
        <p:txBody>
          <a:bodyPr/>
          <a:lstStyle/>
          <a:p>
            <a:r>
              <a:rPr lang="en-US" noProof="1"/>
              <a:t>CONFIDENTIAL | DRAFT</a:t>
            </a:r>
          </a:p>
        </p:txBody>
      </p:sp>
      <p:sp>
        <p:nvSpPr>
          <p:cNvPr id="7" name="Slide Number Placeholder 6">
            <a:extLst>
              <a:ext uri="{FF2B5EF4-FFF2-40B4-BE49-F238E27FC236}">
                <a16:creationId xmlns:a16="http://schemas.microsoft.com/office/drawing/2014/main" id="{A187BBF8-747B-E7EC-AB33-FD91E725A02D}"/>
              </a:ext>
            </a:extLst>
          </p:cNvPr>
          <p:cNvSpPr>
            <a:spLocks noGrp="1"/>
          </p:cNvSpPr>
          <p:nvPr>
            <p:ph type="sldNum" sz="quarter" idx="17"/>
          </p:nvPr>
        </p:nvSpPr>
        <p:spPr/>
        <p:txBody>
          <a:bodyPr/>
          <a:lstStyle/>
          <a:p>
            <a:fld id="{0122C274-3D99-4A24-ADE9-DD3F36DBA14D}" type="slidenum">
              <a:rPr lang="en-US" noProof="1" smtClean="0"/>
              <a:t>2</a:t>
            </a:fld>
            <a:endParaRPr lang="en-US" noProof="1"/>
          </a:p>
        </p:txBody>
      </p:sp>
      <p:sp>
        <p:nvSpPr>
          <p:cNvPr id="8" name="Rectangle 7">
            <a:extLst>
              <a:ext uri="{FF2B5EF4-FFF2-40B4-BE49-F238E27FC236}">
                <a16:creationId xmlns:a16="http://schemas.microsoft.com/office/drawing/2014/main" id="{CBBD5FA9-9776-34C1-23F0-1EB528BE0C16}"/>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noProof="1"/>
              <a:t>Teams Roles:</a:t>
            </a:r>
          </a:p>
          <a:p>
            <a:pPr algn="ctr"/>
            <a:endParaRPr lang="en-US" noProof="1"/>
          </a:p>
          <a:p>
            <a:pPr algn="ctr"/>
            <a:br>
              <a:rPr lang="en-US" noProof="1"/>
            </a:br>
            <a:r>
              <a:rPr lang="en-US"/>
              <a:t>Brandon Galli - Product Owner / App Dev</a:t>
            </a:r>
          </a:p>
          <a:p>
            <a:pPr algn="ctr"/>
            <a:r>
              <a:rPr lang="en-US"/>
              <a:t> </a:t>
            </a:r>
          </a:p>
          <a:p>
            <a:pPr algn="ctr"/>
            <a:r>
              <a:rPr lang="en-US"/>
              <a:t>Eyob Worku - Scrum Master / AI</a:t>
            </a:r>
          </a:p>
          <a:p>
            <a:pPr algn="ctr"/>
            <a:r>
              <a:rPr lang="en-US"/>
              <a:t> </a:t>
            </a:r>
          </a:p>
          <a:p>
            <a:pPr algn="ctr"/>
            <a:r>
              <a:rPr lang="en-US"/>
              <a:t>Gunhee Kim - App Dev</a:t>
            </a:r>
          </a:p>
          <a:p>
            <a:pPr algn="ctr"/>
            <a:r>
              <a:rPr lang="en-US"/>
              <a:t> </a:t>
            </a:r>
          </a:p>
          <a:p>
            <a:pPr algn="ctr"/>
            <a:r>
              <a:rPr lang="en-US"/>
              <a:t>Diep Huynh - App Dev</a:t>
            </a:r>
          </a:p>
          <a:p>
            <a:pPr algn="ctr"/>
            <a:endParaRPr lang="en-US" noProof="1"/>
          </a:p>
          <a:p>
            <a:pPr algn="ctr"/>
            <a:r>
              <a:rPr lang="en-US" noProof="1"/>
              <a:t>Henry Kirykovich – App Dev</a:t>
            </a:r>
          </a:p>
        </p:txBody>
      </p:sp>
      <p:sp>
        <p:nvSpPr>
          <p:cNvPr id="9" name="Right Triangle 8">
            <a:extLst>
              <a:ext uri="{FF2B5EF4-FFF2-40B4-BE49-F238E27FC236}">
                <a16:creationId xmlns:a16="http://schemas.microsoft.com/office/drawing/2014/main" id="{C6C272FC-F293-F435-ED3A-08D89A42FCFE}"/>
              </a:ext>
            </a:extLst>
          </p:cNvPr>
          <p:cNvSpPr/>
          <p:nvPr/>
        </p:nvSpPr>
        <p:spPr>
          <a:xfrm rot="10800000" flipH="1">
            <a:off x="-3175" y="-1334"/>
            <a:ext cx="1348740" cy="3948865"/>
          </a:xfrm>
          <a:prstGeom prst="rtTriangle">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Right Triangle 9">
            <a:extLst>
              <a:ext uri="{FF2B5EF4-FFF2-40B4-BE49-F238E27FC236}">
                <a16:creationId xmlns:a16="http://schemas.microsoft.com/office/drawing/2014/main" id="{84675343-1EC1-DEE4-C45D-1B27D163EA74}"/>
              </a:ext>
            </a:extLst>
          </p:cNvPr>
          <p:cNvSpPr/>
          <p:nvPr/>
        </p:nvSpPr>
        <p:spPr>
          <a:xfrm rot="10800000" flipH="1" flipV="1">
            <a:off x="-3176" y="3377025"/>
            <a:ext cx="1107147" cy="3480975"/>
          </a:xfrm>
          <a:prstGeom prst="rtTriangle">
            <a:avLst/>
          </a:prstGeom>
          <a:solidFill>
            <a:schemeClr val="tx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3" name="Right Triangle 12">
            <a:extLst>
              <a:ext uri="{FF2B5EF4-FFF2-40B4-BE49-F238E27FC236}">
                <a16:creationId xmlns:a16="http://schemas.microsoft.com/office/drawing/2014/main" id="{10330C06-D405-1AF8-1166-BE7D047433BE}"/>
              </a:ext>
            </a:extLst>
          </p:cNvPr>
          <p:cNvSpPr/>
          <p:nvPr/>
        </p:nvSpPr>
        <p:spPr>
          <a:xfrm rot="10800000">
            <a:off x="10381784" y="-1332"/>
            <a:ext cx="1807035" cy="6027038"/>
          </a:xfrm>
          <a:prstGeom prst="rtTriangle">
            <a:avLst/>
          </a:prstGeom>
          <a:solidFill>
            <a:schemeClr val="accent4">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1" name="Right Triangle 10">
            <a:extLst>
              <a:ext uri="{FF2B5EF4-FFF2-40B4-BE49-F238E27FC236}">
                <a16:creationId xmlns:a16="http://schemas.microsoft.com/office/drawing/2014/main" id="{AE5AA8A5-794D-DDCF-BA5C-9527A0E66832}"/>
              </a:ext>
            </a:extLst>
          </p:cNvPr>
          <p:cNvSpPr/>
          <p:nvPr/>
        </p:nvSpPr>
        <p:spPr>
          <a:xfrm rot="10800000" flipV="1">
            <a:off x="10268581" y="1308735"/>
            <a:ext cx="1923418" cy="5549551"/>
          </a:xfrm>
          <a:prstGeom prst="rtTriangle">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2" name="Right Triangle 11">
            <a:extLst>
              <a:ext uri="{FF2B5EF4-FFF2-40B4-BE49-F238E27FC236}">
                <a16:creationId xmlns:a16="http://schemas.microsoft.com/office/drawing/2014/main" id="{B51CE809-3290-BD01-0B32-4739540E9C75}"/>
              </a:ext>
            </a:extLst>
          </p:cNvPr>
          <p:cNvSpPr/>
          <p:nvPr/>
        </p:nvSpPr>
        <p:spPr>
          <a:xfrm rot="10800000" flipV="1">
            <a:off x="11487149" y="1308162"/>
            <a:ext cx="708025" cy="5549551"/>
          </a:xfrm>
          <a:prstGeom prst="rtTriangle">
            <a:avLst/>
          </a:prstGeom>
          <a:solidFill>
            <a:schemeClr val="accent4">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7" name="Title 1">
            <a:extLst>
              <a:ext uri="{FF2B5EF4-FFF2-40B4-BE49-F238E27FC236}">
                <a16:creationId xmlns:a16="http://schemas.microsoft.com/office/drawing/2014/main" id="{793A9FFD-69FD-E8CC-A478-B55BAAB5901C}"/>
              </a:ext>
            </a:extLst>
          </p:cNvPr>
          <p:cNvSpPr txBox="1">
            <a:spLocks/>
          </p:cNvSpPr>
          <p:nvPr>
            <p:custDataLst>
              <p:tags r:id="rId3"/>
            </p:custDataLst>
          </p:nvPr>
        </p:nvSpPr>
        <p:spPr>
          <a:xfrm>
            <a:off x="1643888" y="2203910"/>
            <a:ext cx="7982712" cy="2258187"/>
          </a:xfrm>
          <a:prstGeom prst="rect">
            <a:avLst/>
          </a:prstGeom>
        </p:spPr>
        <p:txBody>
          <a:bodyPr vert="horz" lIns="91440" tIns="45720" rIns="91440" bIns="0" rtlCol="0" anchor="b">
            <a:normAutofit/>
          </a:bodyPr>
          <a:lstStyle>
            <a:lvl1pPr algn="l" defTabSz="914400" rtl="0" eaLnBrk="1" latinLnBrk="0" hangingPunct="1">
              <a:lnSpc>
                <a:spcPct val="90000"/>
              </a:lnSpc>
              <a:spcBef>
                <a:spcPct val="0"/>
              </a:spcBef>
              <a:buNone/>
              <a:defRPr sz="2600" b="0" kern="1200">
                <a:solidFill>
                  <a:schemeClr val="tx1"/>
                </a:solidFill>
                <a:latin typeface="+mj-lt"/>
                <a:ea typeface="+mj-ea"/>
                <a:cs typeface="Arial" panose="020B0604020202020204" pitchFamily="34" charset="0"/>
              </a:defRPr>
            </a:lvl1pPr>
          </a:lstStyle>
          <a:p>
            <a:endParaRPr lang="en-US" sz="3800" noProof="1">
              <a:solidFill>
                <a:schemeClr val="bg1"/>
              </a:solidFill>
              <a:latin typeface="+mn-lt"/>
            </a:endParaRPr>
          </a:p>
        </p:txBody>
      </p:sp>
    </p:spTree>
    <p:custDataLst>
      <p:tags r:id="rId1"/>
    </p:custDataLst>
    <p:extLst>
      <p:ext uri="{BB962C8B-B14F-4D97-AF65-F5344CB8AC3E}">
        <p14:creationId xmlns:p14="http://schemas.microsoft.com/office/powerpoint/2010/main" val="2805255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AAA59-2BCE-0EE1-F7D9-7BBC5405B23B}"/>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38CB80A9-0C5E-5435-C8E9-137F505AD7D6}"/>
              </a:ext>
            </a:extLst>
          </p:cNvPr>
          <p:cNvPicPr>
            <a:picLocks noChangeAspect="1"/>
          </p:cNvPicPr>
          <p:nvPr/>
        </p:nvPicPr>
        <p:blipFill>
          <a:blip r:embed="rId10"/>
          <a:stretch>
            <a:fillRect/>
          </a:stretch>
        </p:blipFill>
        <p:spPr>
          <a:xfrm>
            <a:off x="5794273" y="2062673"/>
            <a:ext cx="6388557" cy="3907595"/>
          </a:xfrm>
          <a:prstGeom prst="rect">
            <a:avLst/>
          </a:prstGeom>
        </p:spPr>
      </p:pic>
      <p:graphicFrame>
        <p:nvGraphicFramePr>
          <p:cNvPr id="9" name="think-cell data - do not delete" hidden="1">
            <a:extLst>
              <a:ext uri="{FF2B5EF4-FFF2-40B4-BE49-F238E27FC236}">
                <a16:creationId xmlns:a16="http://schemas.microsoft.com/office/drawing/2014/main" id="{8CA3CF0C-E913-EE1D-AF60-3FF8C03E4424}"/>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1" imgW="7772400" imgH="10058400" progId="TCLayout.ActiveDocument.1">
                  <p:embed/>
                </p:oleObj>
              </mc:Choice>
              <mc:Fallback>
                <p:oleObj name="think-cell Slide" r:id="rId11" imgW="7772400" imgH="10058400" progId="TCLayout.ActiveDocument.1">
                  <p:embed/>
                  <p:pic>
                    <p:nvPicPr>
                      <p:cNvPr id="9" name="think-cell data - do not delete" hidden="1">
                        <a:extLst>
                          <a:ext uri="{FF2B5EF4-FFF2-40B4-BE49-F238E27FC236}">
                            <a16:creationId xmlns:a16="http://schemas.microsoft.com/office/drawing/2014/main" id="{8CA3CF0C-E913-EE1D-AF60-3FF8C03E4424}"/>
                          </a:ext>
                        </a:extLst>
                      </p:cNvPr>
                      <p:cNvPicPr/>
                      <p:nvPr/>
                    </p:nvPicPr>
                    <p:blipFill>
                      <a:blip r:embed="rId12"/>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205A598-0DFB-F419-AA22-51E092E7C0EE}"/>
              </a:ext>
            </a:extLst>
          </p:cNvPr>
          <p:cNvSpPr>
            <a:spLocks noGrp="1"/>
          </p:cNvSpPr>
          <p:nvPr>
            <p:ph type="title"/>
            <p:custDataLst>
              <p:tags r:id="rId3"/>
            </p:custDataLst>
          </p:nvPr>
        </p:nvSpPr>
        <p:spPr/>
        <p:txBody>
          <a:bodyPr vert="horz">
            <a:normAutofit/>
          </a:bodyPr>
          <a:lstStyle/>
          <a:p>
            <a:r>
              <a:rPr lang="en-US" noProof="1"/>
              <a:t>Who is Payreq?</a:t>
            </a:r>
          </a:p>
        </p:txBody>
      </p:sp>
      <p:sp>
        <p:nvSpPr>
          <p:cNvPr id="4" name="Text Placeholder 3">
            <a:extLst>
              <a:ext uri="{FF2B5EF4-FFF2-40B4-BE49-F238E27FC236}">
                <a16:creationId xmlns:a16="http://schemas.microsoft.com/office/drawing/2014/main" id="{DD72CB85-7F8F-A40B-CE24-494AB427437B}"/>
              </a:ext>
            </a:extLst>
          </p:cNvPr>
          <p:cNvSpPr>
            <a:spLocks noGrp="1"/>
          </p:cNvSpPr>
          <p:nvPr>
            <p:ph type="body" sz="quarter" idx="14"/>
            <p:custDataLst>
              <p:tags r:id="rId4"/>
            </p:custDataLst>
          </p:nvPr>
        </p:nvSpPr>
        <p:spPr/>
        <p:txBody>
          <a:bodyPr/>
          <a:lstStyle/>
          <a:p>
            <a:r>
              <a:rPr lang="en-US" noProof="1"/>
              <a:t>Introduction</a:t>
            </a:r>
          </a:p>
        </p:txBody>
      </p:sp>
      <p:sp>
        <p:nvSpPr>
          <p:cNvPr id="5" name="Text Placeholder 4">
            <a:extLst>
              <a:ext uri="{FF2B5EF4-FFF2-40B4-BE49-F238E27FC236}">
                <a16:creationId xmlns:a16="http://schemas.microsoft.com/office/drawing/2014/main" id="{B45AA188-EC4F-3DA1-0DAA-E2C3C430224C}"/>
              </a:ext>
            </a:extLst>
          </p:cNvPr>
          <p:cNvSpPr>
            <a:spLocks noGrp="1"/>
          </p:cNvSpPr>
          <p:nvPr>
            <p:ph type="body" sz="quarter" idx="15"/>
            <p:custDataLst>
              <p:tags r:id="rId5"/>
            </p:custDataLst>
          </p:nvPr>
        </p:nvSpPr>
        <p:spPr/>
        <p:txBody>
          <a:bodyPr vert="horz" lIns="45720" tIns="91440" rIns="45720" bIns="45720" rtlCol="0" anchor="t">
            <a:normAutofit/>
          </a:bodyPr>
          <a:lstStyle/>
          <a:p>
            <a:r>
              <a:rPr lang="en-US" sz="1400" err="1">
                <a:cs typeface="Arial"/>
              </a:rPr>
              <a:t>Payreq</a:t>
            </a:r>
            <a:r>
              <a:rPr lang="en-US" sz="1400">
                <a:cs typeface="Arial"/>
              </a:rPr>
              <a:t> is a digital-first platform founded in 2015 that helps organizations deliver documents, manage billing, and process payments securely replacing paper, post, and email with secure Smart Mailboxes.</a:t>
            </a:r>
            <a:endParaRPr lang="en-US" sz="1400" noProof="1">
              <a:cs typeface="Arial"/>
            </a:endParaRPr>
          </a:p>
        </p:txBody>
      </p:sp>
      <p:sp>
        <p:nvSpPr>
          <p:cNvPr id="2" name="Google Shape;703;p114">
            <a:extLst>
              <a:ext uri="{FF2B5EF4-FFF2-40B4-BE49-F238E27FC236}">
                <a16:creationId xmlns:a16="http://schemas.microsoft.com/office/drawing/2014/main" id="{DAA8AD1C-559C-9AF4-29C7-64E8FDD58172}"/>
              </a:ext>
            </a:extLst>
          </p:cNvPr>
          <p:cNvSpPr txBox="1"/>
          <p:nvPr>
            <p:custDataLst>
              <p:tags r:id="rId6"/>
            </p:custDataLst>
          </p:nvPr>
        </p:nvSpPr>
        <p:spPr>
          <a:xfrm>
            <a:off x="436563" y="2359301"/>
            <a:ext cx="5415367" cy="3610088"/>
          </a:xfrm>
          <a:prstGeom prst="rect">
            <a:avLst/>
          </a:prstGeom>
          <a:noFill/>
          <a:ln>
            <a:noFill/>
          </a:ln>
        </p:spPr>
        <p:txBody>
          <a:bodyPr spcFirstLastPara="1" wrap="square" lIns="91440" tIns="45720" rIns="91440" bIns="45720" anchor="t" anchorCtr="0">
            <a:normAutofit/>
          </a:bodyPr>
          <a:lstStyle/>
          <a:p>
            <a:pPr marL="171450" indent="-171450">
              <a:spcAft>
                <a:spcPts val="1200"/>
              </a:spcAft>
              <a:buFont typeface="Arial" panose="020B0604020202020204" pitchFamily="34" charset="0"/>
              <a:buChar char="•"/>
            </a:pPr>
            <a:r>
              <a:rPr lang="en-US" sz="1400"/>
              <a:t>Bill &amp; Pay: Manages customer billing, delivers documents securely, and automates payments using any method in one platform.</a:t>
            </a:r>
            <a:endParaRPr lang="en-US" sz="1400">
              <a:cs typeface="Arial"/>
            </a:endParaRPr>
          </a:p>
          <a:p>
            <a:pPr marL="171450" indent="-171450">
              <a:spcAft>
                <a:spcPts val="1200"/>
              </a:spcAft>
              <a:buFont typeface="Arial" panose="020B0604020202020204" pitchFamily="34" charset="0"/>
              <a:buChar char="•"/>
            </a:pPr>
            <a:r>
              <a:rPr lang="en-US" sz="1400"/>
              <a:t>Built for Everyone: Serving enterprises, governments, and all sized organizations with billing, payroll, document delivery, e-Invoicing, and group billing solutions.</a:t>
            </a:r>
            <a:endParaRPr lang="en-US" sz="1400">
              <a:cs typeface="Arial"/>
            </a:endParaRPr>
          </a:p>
          <a:p>
            <a:pPr marL="171450" indent="-171450">
              <a:spcAft>
                <a:spcPts val="1200"/>
              </a:spcAft>
              <a:buFont typeface="Arial" panose="020B0604020202020204" pitchFamily="34" charset="0"/>
              <a:buChar char="•"/>
            </a:pPr>
            <a:r>
              <a:rPr lang="en-US" sz="1400"/>
              <a:t>Smart Mailboxes: Replaces paper, post, and email with secure self-service digital mailboxes for convenience and safety.</a:t>
            </a:r>
            <a:endParaRPr lang="en-US" sz="1400">
              <a:cs typeface="Arial"/>
            </a:endParaRPr>
          </a:p>
          <a:p>
            <a:pPr marL="171450" indent="-171450">
              <a:spcAft>
                <a:spcPts val="1200"/>
              </a:spcAft>
              <a:buFont typeface="Arial" panose="020B0604020202020204" pitchFamily="34" charset="0"/>
              <a:buChar char="•"/>
            </a:pPr>
            <a:r>
              <a:rPr lang="en-US" sz="1400"/>
              <a:t>Flexible Payments: Supports multiple payment methods including cards, bank accounts, Apple Pay, and auto-payments.</a:t>
            </a:r>
            <a:endParaRPr lang="en-US" sz="1400">
              <a:cs typeface="Arial"/>
            </a:endParaRPr>
          </a:p>
          <a:p>
            <a:pPr marL="171450" indent="-171450">
              <a:spcAft>
                <a:spcPts val="1200"/>
              </a:spcAft>
              <a:buFont typeface="Arial" panose="020B0604020202020204" pitchFamily="34" charset="0"/>
              <a:buChar char="•"/>
            </a:pPr>
            <a:r>
              <a:rPr lang="en-US" sz="1400"/>
              <a:t>Global Reach: Operating across Australia, Canada, and the United States serving businesses of all sizes.</a:t>
            </a:r>
            <a:endParaRPr lang="en-US" sz="1400" noProof="1"/>
          </a:p>
        </p:txBody>
      </p:sp>
      <p:sp>
        <p:nvSpPr>
          <p:cNvPr id="7" name="Google Shape;10527;p9415">
            <a:extLst>
              <a:ext uri="{FF2B5EF4-FFF2-40B4-BE49-F238E27FC236}">
                <a16:creationId xmlns:a16="http://schemas.microsoft.com/office/drawing/2014/main" id="{83598628-FAE1-A708-8936-80BFA5F5089D}"/>
              </a:ext>
            </a:extLst>
          </p:cNvPr>
          <p:cNvSpPr txBox="1"/>
          <p:nvPr>
            <p:custDataLst>
              <p:tags r:id="rId7"/>
            </p:custDataLst>
          </p:nvPr>
        </p:nvSpPr>
        <p:spPr>
          <a:xfrm>
            <a:off x="436563" y="1865525"/>
            <a:ext cx="5383786" cy="394297"/>
          </a:xfrm>
          <a:prstGeom prst="rect">
            <a:avLst/>
          </a:prstGeom>
          <a:noFill/>
          <a:ln>
            <a:noFill/>
          </a:ln>
        </p:spPr>
        <p:txBody>
          <a:bodyPr spcFirstLastPara="1" wrap="square" lIns="45720" tIns="45720" rIns="45720" bIns="45720" anchor="ctr" anchorCtr="0">
            <a:normAutofit/>
          </a:bodyPr>
          <a:lstStyle/>
          <a:p>
            <a:pPr>
              <a:buSzPts val="1100"/>
            </a:pPr>
            <a:r>
              <a:rPr lang="en-US" sz="1400" b="1" noProof="1"/>
              <a:t>Key Features of Payreq</a:t>
            </a:r>
            <a:endParaRPr lang="en-US" sz="1400" b="1" noProof="1">
              <a:cs typeface="Arial"/>
            </a:endParaRPr>
          </a:p>
        </p:txBody>
      </p:sp>
      <p:cxnSp>
        <p:nvCxnSpPr>
          <p:cNvPr id="13" name="Straight Connector 12">
            <a:extLst>
              <a:ext uri="{FF2B5EF4-FFF2-40B4-BE49-F238E27FC236}">
                <a16:creationId xmlns:a16="http://schemas.microsoft.com/office/drawing/2014/main" id="{372D61A7-68BB-5226-9AD1-5BDDC19462CE}"/>
              </a:ext>
            </a:extLst>
          </p:cNvPr>
          <p:cNvCxnSpPr>
            <a:cxnSpLocks/>
          </p:cNvCxnSpPr>
          <p:nvPr/>
        </p:nvCxnSpPr>
        <p:spPr>
          <a:xfrm>
            <a:off x="436563" y="2257890"/>
            <a:ext cx="539473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Slide Number Placeholder 17">
            <a:extLst>
              <a:ext uri="{FF2B5EF4-FFF2-40B4-BE49-F238E27FC236}">
                <a16:creationId xmlns:a16="http://schemas.microsoft.com/office/drawing/2014/main" id="{E3858D6D-8A3B-7D75-DCFA-FAB6BB367F59}"/>
              </a:ext>
            </a:extLst>
          </p:cNvPr>
          <p:cNvSpPr>
            <a:spLocks noGrp="1"/>
          </p:cNvSpPr>
          <p:nvPr>
            <p:ph type="sldNum" sz="quarter" idx="17"/>
          </p:nvPr>
        </p:nvSpPr>
        <p:spPr/>
        <p:txBody>
          <a:bodyPr/>
          <a:lstStyle/>
          <a:p>
            <a:fld id="{0122C274-3D99-4A24-ADE9-DD3F36DBA14D}" type="slidenum">
              <a:rPr lang="en-US" noProof="1" smtClean="0"/>
              <a:t>3</a:t>
            </a:fld>
            <a:endParaRPr lang="en-US" noProof="1"/>
          </a:p>
        </p:txBody>
      </p:sp>
    </p:spTree>
    <p:custDataLst>
      <p:tags r:id="rId1"/>
    </p:custDataLst>
    <p:extLst>
      <p:ext uri="{BB962C8B-B14F-4D97-AF65-F5344CB8AC3E}">
        <p14:creationId xmlns:p14="http://schemas.microsoft.com/office/powerpoint/2010/main" val="3976328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9326B5A-55B0-EA33-7862-54185BA21B40}"/>
              </a:ext>
            </a:extLst>
          </p:cNvPr>
          <p:cNvPicPr>
            <a:picLocks noChangeAspect="1"/>
          </p:cNvPicPr>
          <p:nvPr/>
        </p:nvPicPr>
        <p:blipFill>
          <a:blip r:embed="rId2"/>
          <a:stretch>
            <a:fillRect/>
          </a:stretch>
        </p:blipFill>
        <p:spPr>
          <a:xfrm>
            <a:off x="6096000" y="3842423"/>
            <a:ext cx="6096000" cy="2402091"/>
          </a:xfrm>
          <a:prstGeom prst="rect">
            <a:avLst/>
          </a:prstGeom>
        </p:spPr>
      </p:pic>
      <p:sp>
        <p:nvSpPr>
          <p:cNvPr id="3" name="Title 2">
            <a:extLst>
              <a:ext uri="{FF2B5EF4-FFF2-40B4-BE49-F238E27FC236}">
                <a16:creationId xmlns:a16="http://schemas.microsoft.com/office/drawing/2014/main" id="{16C93897-DA6F-03D2-3DF7-8B90B19628C3}"/>
              </a:ext>
            </a:extLst>
          </p:cNvPr>
          <p:cNvSpPr>
            <a:spLocks noGrp="1"/>
          </p:cNvSpPr>
          <p:nvPr>
            <p:ph type="title"/>
          </p:nvPr>
        </p:nvSpPr>
        <p:spPr>
          <a:xfrm>
            <a:off x="457200" y="124175"/>
            <a:ext cx="11274552" cy="493776"/>
          </a:xfrm>
        </p:spPr>
        <p:txBody>
          <a:bodyPr/>
          <a:lstStyle/>
          <a:p>
            <a:r>
              <a:rPr lang="en-US">
                <a:latin typeface="Arial" panose="020B0604020202020204" pitchFamily="34" charset="0"/>
              </a:rPr>
              <a:t>Payreq.com</a:t>
            </a:r>
          </a:p>
        </p:txBody>
      </p:sp>
      <p:sp>
        <p:nvSpPr>
          <p:cNvPr id="7" name="Slide Number Placeholder 6">
            <a:extLst>
              <a:ext uri="{FF2B5EF4-FFF2-40B4-BE49-F238E27FC236}">
                <a16:creationId xmlns:a16="http://schemas.microsoft.com/office/drawing/2014/main" id="{C5B5752C-7BC6-2A09-0DD2-A3AB7C858985}"/>
              </a:ext>
            </a:extLst>
          </p:cNvPr>
          <p:cNvSpPr>
            <a:spLocks noGrp="1"/>
          </p:cNvSpPr>
          <p:nvPr>
            <p:ph type="sldNum" sz="quarter" idx="17"/>
          </p:nvPr>
        </p:nvSpPr>
        <p:spPr/>
        <p:txBody>
          <a:bodyPr/>
          <a:lstStyle/>
          <a:p>
            <a:fld id="{0122C274-3D99-4A24-ADE9-DD3F36DBA14D}" type="slidenum">
              <a:rPr lang="en-US" smtClean="0"/>
              <a:t>4</a:t>
            </a:fld>
            <a:endParaRPr lang="en-US"/>
          </a:p>
        </p:txBody>
      </p:sp>
      <p:pic>
        <p:nvPicPr>
          <p:cNvPr id="12" name="Content Placeholder 11">
            <a:extLst>
              <a:ext uri="{FF2B5EF4-FFF2-40B4-BE49-F238E27FC236}">
                <a16:creationId xmlns:a16="http://schemas.microsoft.com/office/drawing/2014/main" id="{6A2897F0-75A1-3B89-2009-21B2F664F9CC}"/>
              </a:ext>
            </a:extLst>
          </p:cNvPr>
          <p:cNvPicPr>
            <a:picLocks noGrp="1" noChangeAspect="1"/>
          </p:cNvPicPr>
          <p:nvPr>
            <p:ph idx="1"/>
          </p:nvPr>
        </p:nvPicPr>
        <p:blipFill>
          <a:blip r:embed="rId3"/>
          <a:stretch>
            <a:fillRect/>
          </a:stretch>
        </p:blipFill>
        <p:spPr>
          <a:xfrm>
            <a:off x="0" y="617951"/>
            <a:ext cx="6527549" cy="5733637"/>
          </a:xfrm>
          <a:prstGeom prst="rect">
            <a:avLst/>
          </a:prstGeom>
        </p:spPr>
      </p:pic>
      <p:pic>
        <p:nvPicPr>
          <p:cNvPr id="14" name="Picture 13">
            <a:extLst>
              <a:ext uri="{FF2B5EF4-FFF2-40B4-BE49-F238E27FC236}">
                <a16:creationId xmlns:a16="http://schemas.microsoft.com/office/drawing/2014/main" id="{33EF8C3D-4021-6A1B-8A87-8ECFFB1AE106}"/>
              </a:ext>
            </a:extLst>
          </p:cNvPr>
          <p:cNvPicPr>
            <a:picLocks noChangeAspect="1"/>
          </p:cNvPicPr>
          <p:nvPr/>
        </p:nvPicPr>
        <p:blipFill>
          <a:blip r:embed="rId4"/>
          <a:stretch>
            <a:fillRect/>
          </a:stretch>
        </p:blipFill>
        <p:spPr>
          <a:xfrm>
            <a:off x="6470210" y="1295029"/>
            <a:ext cx="5721790" cy="2440321"/>
          </a:xfrm>
          <a:prstGeom prst="rect">
            <a:avLst/>
          </a:prstGeom>
        </p:spPr>
      </p:pic>
    </p:spTree>
    <p:extLst>
      <p:ext uri="{BB962C8B-B14F-4D97-AF65-F5344CB8AC3E}">
        <p14:creationId xmlns:p14="http://schemas.microsoft.com/office/powerpoint/2010/main" val="3249422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13075-BF05-36C5-FB97-81DB7BD56C5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5E05E8E-0FE8-14BB-4E8C-A7FA1E2F8D1A}"/>
              </a:ext>
            </a:extLst>
          </p:cNvPr>
          <p:cNvGraphicFramePr>
            <a:graphicFrameLocks noChangeAspect="1"/>
          </p:cNvGraphicFramePr>
          <p:nvPr>
            <p:custDataLst>
              <p:tags r:id="rId2"/>
            </p:custDataLst>
            <p:extLst>
              <p:ext uri="{D42A27DB-BD31-4B8C-83A1-F6EECF244321}">
                <p14:modId xmlns:p14="http://schemas.microsoft.com/office/powerpoint/2010/main" val="31524861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2" imgW="7772400" imgH="10058400" progId="TCLayout.ActiveDocument.1">
                  <p:embed/>
                </p:oleObj>
              </mc:Choice>
              <mc:Fallback>
                <p:oleObj name="think-cell Slide" r:id="rId12" imgW="7772400" imgH="10058400" progId="TCLayout.ActiveDocument.1">
                  <p:embed/>
                  <p:pic>
                    <p:nvPicPr>
                      <p:cNvPr id="5" name="think-cell data - do not delete" hidden="1">
                        <a:extLst>
                          <a:ext uri="{FF2B5EF4-FFF2-40B4-BE49-F238E27FC236}">
                            <a16:creationId xmlns:a16="http://schemas.microsoft.com/office/drawing/2014/main" id="{E5E05E8E-0FE8-14BB-4E8C-A7FA1E2F8D1A}"/>
                          </a:ext>
                        </a:extLst>
                      </p:cNvPr>
                      <p:cNvPicPr/>
                      <p:nvPr/>
                    </p:nvPicPr>
                    <p:blipFill>
                      <a:blip r:embed="rId13"/>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76A8FAD-3877-7538-E688-15B398DD9158}"/>
              </a:ext>
            </a:extLst>
          </p:cNvPr>
          <p:cNvSpPr>
            <a:spLocks noGrp="1"/>
          </p:cNvSpPr>
          <p:nvPr>
            <p:ph type="title"/>
            <p:custDataLst>
              <p:tags r:id="rId3"/>
            </p:custDataLst>
          </p:nvPr>
        </p:nvSpPr>
        <p:spPr/>
        <p:txBody>
          <a:bodyPr vert="horz">
            <a:normAutofit/>
          </a:bodyPr>
          <a:lstStyle/>
          <a:p>
            <a:r>
              <a:rPr lang="en-US" noProof="1"/>
              <a:t>The Big Picture</a:t>
            </a:r>
          </a:p>
        </p:txBody>
      </p:sp>
      <p:sp>
        <p:nvSpPr>
          <p:cNvPr id="4" name="Text Placeholder 3">
            <a:extLst>
              <a:ext uri="{FF2B5EF4-FFF2-40B4-BE49-F238E27FC236}">
                <a16:creationId xmlns:a16="http://schemas.microsoft.com/office/drawing/2014/main" id="{66DC73AA-FFE9-41AB-1138-4646CBD388F3}"/>
              </a:ext>
            </a:extLst>
          </p:cNvPr>
          <p:cNvSpPr>
            <a:spLocks noGrp="1"/>
          </p:cNvSpPr>
          <p:nvPr>
            <p:ph type="body" sz="quarter" idx="14"/>
            <p:custDataLst>
              <p:tags r:id="rId4"/>
            </p:custDataLst>
          </p:nvPr>
        </p:nvSpPr>
        <p:spPr>
          <a:xfrm>
            <a:off x="453034" y="282321"/>
            <a:ext cx="11274425" cy="266319"/>
          </a:xfrm>
        </p:spPr>
        <p:txBody>
          <a:bodyPr/>
          <a:lstStyle/>
          <a:p>
            <a:r>
              <a:rPr lang="en-US" noProof="1"/>
              <a:t>Overview</a:t>
            </a:r>
          </a:p>
        </p:txBody>
      </p:sp>
      <p:sp>
        <p:nvSpPr>
          <p:cNvPr id="11" name="Text Placeholder 10">
            <a:extLst>
              <a:ext uri="{FF2B5EF4-FFF2-40B4-BE49-F238E27FC236}">
                <a16:creationId xmlns:a16="http://schemas.microsoft.com/office/drawing/2014/main" id="{0C4B07E5-B7DD-49BD-2300-9DCABC198AD3}"/>
              </a:ext>
            </a:extLst>
          </p:cNvPr>
          <p:cNvSpPr>
            <a:spLocks noGrp="1"/>
          </p:cNvSpPr>
          <p:nvPr>
            <p:ph type="body" sz="quarter" idx="15"/>
            <p:custDataLst>
              <p:tags r:id="rId5"/>
            </p:custDataLst>
          </p:nvPr>
        </p:nvSpPr>
        <p:spPr/>
        <p:txBody>
          <a:bodyPr vert="horz" lIns="45720" tIns="91440" rIns="45720" bIns="45720" rtlCol="0" anchor="t">
            <a:normAutofit/>
          </a:bodyPr>
          <a:lstStyle/>
          <a:p>
            <a:r>
              <a:rPr lang="en-US">
                <a:ea typeface="+mn-lt"/>
                <a:cs typeface="+mn-lt"/>
              </a:rPr>
              <a:t>Our team migrated the </a:t>
            </a:r>
            <a:r>
              <a:rPr lang="en-US" err="1">
                <a:ea typeface="+mn-lt"/>
                <a:cs typeface="+mn-lt"/>
              </a:rPr>
              <a:t>Payreq</a:t>
            </a:r>
            <a:r>
              <a:rPr lang="en-US">
                <a:ea typeface="+mn-lt"/>
                <a:cs typeface="+mn-lt"/>
              </a:rPr>
              <a:t> biller portal from Ember.js to React — screen by screen on a live production codebase used by real customers.</a:t>
            </a:r>
          </a:p>
        </p:txBody>
      </p:sp>
      <p:sp>
        <p:nvSpPr>
          <p:cNvPr id="13" name="Google Shape;703;p114">
            <a:extLst>
              <a:ext uri="{FF2B5EF4-FFF2-40B4-BE49-F238E27FC236}">
                <a16:creationId xmlns:a16="http://schemas.microsoft.com/office/drawing/2014/main" id="{5B8FEEB0-C11E-7F2E-6666-80EC3F22B9F4}"/>
              </a:ext>
            </a:extLst>
          </p:cNvPr>
          <p:cNvSpPr txBox="1"/>
          <p:nvPr>
            <p:custDataLst>
              <p:tags r:id="rId6"/>
            </p:custDataLst>
          </p:nvPr>
        </p:nvSpPr>
        <p:spPr>
          <a:xfrm>
            <a:off x="2146061" y="1798117"/>
            <a:ext cx="9600197" cy="1921205"/>
          </a:xfrm>
          <a:prstGeom prst="rect">
            <a:avLst/>
          </a:prstGeom>
          <a:noFill/>
          <a:ln>
            <a:noFill/>
          </a:ln>
        </p:spPr>
        <p:txBody>
          <a:bodyPr spcFirstLastPara="1" wrap="square" lIns="45720" tIns="45720" rIns="45720" bIns="45720" anchor="t" anchorCtr="0">
            <a:normAutofit/>
          </a:bodyPr>
          <a:lstStyle/>
          <a:p>
            <a:pPr>
              <a:buFont typeface="Arial" panose="020B0604020202020204" pitchFamily="34" charset="0"/>
              <a:buChar char="•"/>
            </a:pPr>
            <a:r>
              <a:rPr lang="en-US" sz="1400">
                <a:ea typeface="+mn-lt"/>
                <a:cs typeface="+mn-lt"/>
              </a:rPr>
              <a:t> 25 delivery screens identified for migration</a:t>
            </a:r>
            <a:endParaRPr lang="en-US" sz="1400">
              <a:cs typeface="Arial"/>
            </a:endParaRPr>
          </a:p>
          <a:p>
            <a:endParaRPr lang="en-US" sz="1400">
              <a:ea typeface="+mn-lt"/>
              <a:cs typeface="+mn-lt"/>
            </a:endParaRPr>
          </a:p>
          <a:p>
            <a:pPr>
              <a:buFont typeface="Arial" panose="020B0604020202020204" pitchFamily="34" charset="0"/>
              <a:buChar char="•"/>
            </a:pPr>
            <a:r>
              <a:rPr lang="en-US" sz="1400">
                <a:ea typeface="+mn-lt"/>
                <a:cs typeface="+mn-lt"/>
              </a:rPr>
              <a:t> Each screen went through feature branch, peer review for final </a:t>
            </a:r>
            <a:r>
              <a:rPr lang="en-US" sz="1400" err="1">
                <a:ea typeface="+mn-lt"/>
                <a:cs typeface="+mn-lt"/>
              </a:rPr>
              <a:t>Payreq's</a:t>
            </a:r>
            <a:r>
              <a:rPr lang="en-US" sz="1400">
                <a:ea typeface="+mn-lt"/>
                <a:cs typeface="+mn-lt"/>
              </a:rPr>
              <a:t> approval</a:t>
            </a:r>
          </a:p>
          <a:p>
            <a:pPr>
              <a:buFont typeface="Arial" panose="020B0604020202020204" pitchFamily="34" charset="0"/>
              <a:buChar char="•"/>
            </a:pPr>
            <a:endParaRPr lang="en-US" sz="1400">
              <a:ea typeface="+mn-lt"/>
              <a:cs typeface="+mn-lt"/>
            </a:endParaRPr>
          </a:p>
          <a:p>
            <a:pPr>
              <a:buFont typeface="Arial" panose="020B0604020202020204" pitchFamily="34" charset="0"/>
              <a:buChar char="•"/>
            </a:pPr>
            <a:r>
              <a:rPr lang="en-US" sz="1400">
                <a:ea typeface="+mn-lt"/>
                <a:cs typeface="+mn-lt"/>
              </a:rPr>
              <a:t> Used AI tools to analyze legacy code and generate React components</a:t>
            </a:r>
          </a:p>
          <a:p>
            <a:pPr>
              <a:buFont typeface="Arial" panose="020B0604020202020204" pitchFamily="34" charset="0"/>
              <a:buChar char="•"/>
            </a:pPr>
            <a:endParaRPr lang="en-US" sz="1400">
              <a:ea typeface="+mn-lt"/>
              <a:cs typeface="+mn-lt"/>
            </a:endParaRPr>
          </a:p>
          <a:p>
            <a:pPr>
              <a:buFont typeface="Arial" panose="020B0604020202020204" pitchFamily="34" charset="0"/>
              <a:buChar char="•"/>
            </a:pPr>
            <a:r>
              <a:rPr lang="en-US" sz="1400">
                <a:ea typeface="+mn-lt"/>
                <a:cs typeface="+mn-lt"/>
              </a:rPr>
              <a:t> Maintained a shared migration tracker to coordinate the team</a:t>
            </a:r>
          </a:p>
        </p:txBody>
      </p:sp>
      <p:sp>
        <p:nvSpPr>
          <p:cNvPr id="15" name="Google Shape;10527;p9415">
            <a:extLst>
              <a:ext uri="{FF2B5EF4-FFF2-40B4-BE49-F238E27FC236}">
                <a16:creationId xmlns:a16="http://schemas.microsoft.com/office/drawing/2014/main" id="{5CEDA8DA-C846-DFBD-6838-A1D540B5BEBD}"/>
              </a:ext>
            </a:extLst>
          </p:cNvPr>
          <p:cNvSpPr txBox="1"/>
          <p:nvPr>
            <p:custDataLst>
              <p:tags r:id="rId7"/>
            </p:custDataLst>
          </p:nvPr>
        </p:nvSpPr>
        <p:spPr>
          <a:xfrm>
            <a:off x="457199" y="1798117"/>
            <a:ext cx="1533643" cy="1921205"/>
          </a:xfrm>
          <a:prstGeom prst="rect">
            <a:avLst/>
          </a:prstGeom>
          <a:solidFill>
            <a:schemeClr val="accent1"/>
          </a:solidFill>
          <a:ln>
            <a:noFill/>
          </a:ln>
        </p:spPr>
        <p:txBody>
          <a:bodyPr spcFirstLastPara="1" wrap="square" lIns="91440" tIns="91440" rIns="91440" bIns="91440" anchor="t" anchorCtr="0">
            <a:normAutofit/>
          </a:bodyPr>
          <a:lstStyle/>
          <a:p>
            <a:pPr>
              <a:buSzPts val="1100"/>
            </a:pPr>
            <a:r>
              <a:rPr lang="en-US" sz="1400">
                <a:solidFill>
                  <a:schemeClr val="bg1"/>
                </a:solidFill>
              </a:rPr>
              <a:t>Progress &amp; Approach</a:t>
            </a:r>
            <a:endParaRPr lang="en-US" sz="1400" b="1" noProof="1">
              <a:solidFill>
                <a:schemeClr val="bg1"/>
              </a:solidFill>
            </a:endParaRPr>
          </a:p>
        </p:txBody>
      </p:sp>
      <p:sp>
        <p:nvSpPr>
          <p:cNvPr id="17" name="Google Shape;703;p114">
            <a:extLst>
              <a:ext uri="{FF2B5EF4-FFF2-40B4-BE49-F238E27FC236}">
                <a16:creationId xmlns:a16="http://schemas.microsoft.com/office/drawing/2014/main" id="{0C40A72A-F011-2293-51F4-EA7057FE3A6A}"/>
              </a:ext>
            </a:extLst>
          </p:cNvPr>
          <p:cNvSpPr txBox="1"/>
          <p:nvPr>
            <p:custDataLst>
              <p:tags r:id="rId8"/>
            </p:custDataLst>
          </p:nvPr>
        </p:nvSpPr>
        <p:spPr>
          <a:xfrm>
            <a:off x="2146061" y="3982337"/>
            <a:ext cx="9600197" cy="1921205"/>
          </a:xfrm>
          <a:prstGeom prst="rect">
            <a:avLst/>
          </a:prstGeom>
          <a:noFill/>
          <a:ln>
            <a:noFill/>
          </a:ln>
        </p:spPr>
        <p:txBody>
          <a:bodyPr spcFirstLastPara="1" wrap="square" lIns="45720" tIns="45720" rIns="45720" bIns="45720" anchor="t" anchorCtr="0">
            <a:normAutofit fontScale="92500" lnSpcReduction="20000"/>
          </a:bodyPr>
          <a:lstStyle>
            <a:defPPr>
              <a:defRPr lang="en-US"/>
            </a:defPPr>
            <a:lvl1pPr marL="171450" indent="-171450">
              <a:spcAft>
                <a:spcPts val="200"/>
              </a:spcAft>
              <a:buFont typeface="Arial" panose="020B0604020202020204" pitchFamily="34" charset="0"/>
              <a:buChar char="•"/>
              <a:defRPr sz="1200"/>
            </a:lvl1pPr>
          </a:lstStyle>
          <a:p>
            <a:r>
              <a:rPr lang="en-US" sz="1400"/>
              <a:t>Eyob - Channel Errors, User Notifications, Accounting Payment, Bill Detail, Registrations</a:t>
            </a:r>
            <a:endParaRPr lang="en-US" sz="1400">
              <a:cs typeface="Arial"/>
            </a:endParaRPr>
          </a:p>
          <a:p>
            <a:endParaRPr lang="en-US" sz="1400"/>
          </a:p>
          <a:p>
            <a:r>
              <a:rPr lang="en-US" sz="1400"/>
              <a:t>Henry - Connections, Account Permissions, User Detail, Create User</a:t>
            </a:r>
            <a:endParaRPr lang="en-US" sz="1400">
              <a:cs typeface="Arial"/>
            </a:endParaRPr>
          </a:p>
          <a:p>
            <a:endParaRPr lang="en-US" sz="1400"/>
          </a:p>
          <a:p>
            <a:r>
              <a:rPr lang="en-US" sz="1400" err="1"/>
              <a:t>Gunhee</a:t>
            </a:r>
            <a:r>
              <a:rPr lang="en-US" sz="1400"/>
              <a:t> - Consents, Bill Templates, Channel Partner Settings, Accounting Settings, Bills List</a:t>
            </a:r>
            <a:endParaRPr lang="en-US" sz="1400">
              <a:cs typeface="Arial"/>
            </a:endParaRPr>
          </a:p>
          <a:p>
            <a:endParaRPr lang="en-US" sz="1400"/>
          </a:p>
          <a:p>
            <a:r>
              <a:rPr lang="en-US" sz="1400"/>
              <a:t>Diep - Payments Settings, Users List, Import screen</a:t>
            </a:r>
            <a:endParaRPr lang="en-US" sz="1400">
              <a:cs typeface="Arial"/>
            </a:endParaRPr>
          </a:p>
          <a:p>
            <a:endParaRPr lang="en-US" sz="1400"/>
          </a:p>
          <a:p>
            <a:r>
              <a:rPr lang="en-US" sz="1400"/>
              <a:t>Brandon - Product Owner, core migration work, coordination with </a:t>
            </a:r>
            <a:r>
              <a:rPr lang="en-US" sz="1400" err="1"/>
              <a:t>Payreq</a:t>
            </a:r>
            <a:r>
              <a:rPr lang="en-US" sz="1400"/>
              <a:t> sponsors</a:t>
            </a:r>
            <a:endParaRPr lang="en-US" sz="1400" noProof="1"/>
          </a:p>
        </p:txBody>
      </p:sp>
      <p:sp>
        <p:nvSpPr>
          <p:cNvPr id="18" name="Google Shape;10527;p9415">
            <a:extLst>
              <a:ext uri="{FF2B5EF4-FFF2-40B4-BE49-F238E27FC236}">
                <a16:creationId xmlns:a16="http://schemas.microsoft.com/office/drawing/2014/main" id="{E57CA9A5-E75B-FA8E-496A-7B1FCA59265C}"/>
              </a:ext>
            </a:extLst>
          </p:cNvPr>
          <p:cNvSpPr txBox="1"/>
          <p:nvPr>
            <p:custDataLst>
              <p:tags r:id="rId9"/>
            </p:custDataLst>
          </p:nvPr>
        </p:nvSpPr>
        <p:spPr>
          <a:xfrm>
            <a:off x="457199" y="3982337"/>
            <a:ext cx="1533644" cy="1921205"/>
          </a:xfrm>
          <a:prstGeom prst="rect">
            <a:avLst/>
          </a:prstGeom>
          <a:solidFill>
            <a:schemeClr val="tx2"/>
          </a:solidFill>
          <a:ln>
            <a:noFill/>
          </a:ln>
        </p:spPr>
        <p:txBody>
          <a:bodyPr spcFirstLastPara="1" wrap="square" lIns="91440" tIns="91440" rIns="91440" bIns="91440" anchor="t" anchorCtr="0">
            <a:normAutofit/>
          </a:bodyPr>
          <a:lstStyle/>
          <a:p>
            <a:pPr>
              <a:buSzPts val="1100"/>
            </a:pPr>
            <a:r>
              <a:rPr lang="en-US" sz="1400">
                <a:solidFill>
                  <a:schemeClr val="bg1"/>
                </a:solidFill>
              </a:rPr>
              <a:t>Team Contributions</a:t>
            </a:r>
            <a:endParaRPr lang="en-US" sz="1400" b="1" noProof="1">
              <a:solidFill>
                <a:schemeClr val="bg1"/>
              </a:solidFill>
              <a:cs typeface="Arial"/>
            </a:endParaRPr>
          </a:p>
        </p:txBody>
      </p:sp>
      <p:cxnSp>
        <p:nvCxnSpPr>
          <p:cNvPr id="19" name="Straight Connector 18">
            <a:extLst>
              <a:ext uri="{FF2B5EF4-FFF2-40B4-BE49-F238E27FC236}">
                <a16:creationId xmlns:a16="http://schemas.microsoft.com/office/drawing/2014/main" id="{6CCFA04D-2C7F-1DB0-E9CA-4B31DDE19C3A}"/>
              </a:ext>
            </a:extLst>
          </p:cNvPr>
          <p:cNvCxnSpPr>
            <a:cxnSpLocks/>
          </p:cNvCxnSpPr>
          <p:nvPr/>
        </p:nvCxnSpPr>
        <p:spPr>
          <a:xfrm>
            <a:off x="421927" y="3849706"/>
            <a:ext cx="11309698" cy="0"/>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3C8EC36E-5C70-EB91-7A42-291DEF84A99E}"/>
              </a:ext>
            </a:extLst>
          </p:cNvPr>
          <p:cNvSpPr>
            <a:spLocks noGrp="1"/>
          </p:cNvSpPr>
          <p:nvPr>
            <p:ph type="sldNum" sz="quarter" idx="17"/>
          </p:nvPr>
        </p:nvSpPr>
        <p:spPr/>
        <p:txBody>
          <a:bodyPr/>
          <a:lstStyle/>
          <a:p>
            <a:fld id="{0122C274-3D99-4A24-ADE9-DD3F36DBA14D}" type="slidenum">
              <a:rPr lang="en-US" noProof="1" smtClean="0"/>
              <a:t>5</a:t>
            </a:fld>
            <a:endParaRPr lang="en-US" noProof="1"/>
          </a:p>
        </p:txBody>
      </p:sp>
    </p:spTree>
    <p:custDataLst>
      <p:tags r:id="rId1"/>
    </p:custDataLst>
    <p:extLst>
      <p:ext uri="{BB962C8B-B14F-4D97-AF65-F5344CB8AC3E}">
        <p14:creationId xmlns:p14="http://schemas.microsoft.com/office/powerpoint/2010/main" val="3827814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4"/>
          </p:nvPr>
        </p:nvSpPr>
        <p:spPr/>
        <p:txBody>
          <a:bodyPr/>
          <a:lstStyle/>
          <a:p>
            <a:endParaRPr/>
          </a:p>
        </p:txBody>
      </p:sp>
      <p:sp>
        <p:nvSpPr>
          <p:cNvPr id="5" name="Text Placeholder 4"/>
          <p:cNvSpPr>
            <a:spLocks noGrp="1"/>
          </p:cNvSpPr>
          <p:nvPr>
            <p:ph type="body" sz="quarter" idx="15"/>
          </p:nvPr>
        </p:nvSpPr>
        <p:spPr/>
        <p:txBody>
          <a:bodyPr/>
          <a:lstStyle/>
          <a:p>
            <a:endParaRPr/>
          </a:p>
        </p:txBody>
      </p:sp>
      <p:sp>
        <p:nvSpPr>
          <p:cNvPr id="6" name="Rectangle 5"/>
          <p:cNvSpPr/>
          <p:nvPr/>
        </p:nvSpPr>
        <p:spPr>
          <a:xfrm>
            <a:off x="-15240" y="282216"/>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915394" y="0"/>
            <a:ext cx="276606" cy="276606"/>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362182" y="0"/>
            <a:ext cx="553212" cy="276606"/>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362182" y="276606"/>
            <a:ext cx="276606" cy="276606"/>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085576" y="276606"/>
            <a:ext cx="276606" cy="276606"/>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11480"/>
            <a:ext cx="7315200" cy="292608"/>
          </a:xfrm>
          <a:prstGeom prst="rect">
            <a:avLst/>
          </a:prstGeom>
          <a:noFill/>
        </p:spPr>
        <p:txBody>
          <a:bodyPr wrap="square" lIns="0" tIns="0" rIns="0" bIns="0" anchor="t">
            <a:spAutoFit/>
          </a:bodyPr>
          <a:lstStyle/>
          <a:p>
            <a:pPr algn="l"/>
            <a:r>
              <a:rPr sz="1100" b="1" i="0" spc="800">
                <a:solidFill>
                  <a:srgbClr val="1863DC"/>
                </a:solidFill>
                <a:latin typeface="Arial"/>
              </a:rPr>
              <a:t>PROCEDURE</a:t>
            </a:r>
          </a:p>
        </p:txBody>
      </p:sp>
      <p:sp>
        <p:nvSpPr>
          <p:cNvPr id="12" name="TextBox 11"/>
          <p:cNvSpPr txBox="1"/>
          <p:nvPr/>
        </p:nvSpPr>
        <p:spPr>
          <a:xfrm>
            <a:off x="548640" y="713232"/>
            <a:ext cx="10972800" cy="553998"/>
          </a:xfrm>
          <a:prstGeom prst="rect">
            <a:avLst/>
          </a:prstGeom>
          <a:noFill/>
        </p:spPr>
        <p:txBody>
          <a:bodyPr wrap="square" lIns="0" tIns="0" rIns="0" bIns="0" anchor="t">
            <a:spAutoFit/>
          </a:bodyPr>
          <a:lstStyle/>
          <a:p>
            <a:pPr algn="l"/>
            <a:r>
              <a:rPr sz="3600" b="1" i="0">
                <a:solidFill>
                  <a:srgbClr val="062A4B"/>
                </a:solidFill>
                <a:latin typeface="Arial"/>
              </a:rPr>
              <a:t>How We </a:t>
            </a:r>
            <a:r>
              <a:rPr sz="3600" b="1" i="0" err="1">
                <a:solidFill>
                  <a:srgbClr val="062A4B"/>
                </a:solidFill>
                <a:latin typeface="Arial"/>
              </a:rPr>
              <a:t>Appr</a:t>
            </a:r>
            <a:r>
              <a:rPr lang="en-US" sz="3600" b="1" i="0" err="1">
                <a:solidFill>
                  <a:srgbClr val="062A4B"/>
                </a:solidFill>
                <a:latin typeface="Arial"/>
              </a:rPr>
              <a:t>oac</a:t>
            </a:r>
            <a:r>
              <a:rPr sz="3600" b="1" i="0" err="1">
                <a:solidFill>
                  <a:srgbClr val="062A4B"/>
                </a:solidFill>
                <a:latin typeface="Arial"/>
              </a:rPr>
              <a:t>hed</a:t>
            </a:r>
            <a:r>
              <a:rPr sz="3600" b="1" i="0">
                <a:solidFill>
                  <a:srgbClr val="062A4B"/>
                </a:solidFill>
                <a:latin typeface="Arial"/>
              </a:rPr>
              <a:t> the Capstone</a:t>
            </a:r>
          </a:p>
        </p:txBody>
      </p:sp>
      <p:sp>
        <p:nvSpPr>
          <p:cNvPr id="13" name="TextBox 12"/>
          <p:cNvSpPr txBox="1"/>
          <p:nvPr/>
        </p:nvSpPr>
        <p:spPr>
          <a:xfrm>
            <a:off x="548640" y="1691640"/>
            <a:ext cx="10972800" cy="365760"/>
          </a:xfrm>
          <a:prstGeom prst="rect">
            <a:avLst/>
          </a:prstGeom>
          <a:noFill/>
        </p:spPr>
        <p:txBody>
          <a:bodyPr wrap="square" lIns="0" tIns="0" rIns="0" bIns="0" anchor="t">
            <a:spAutoFit/>
          </a:bodyPr>
          <a:lstStyle/>
          <a:p>
            <a:pPr algn="l"/>
            <a:r>
              <a:rPr sz="1300" b="0" i="0">
                <a:solidFill>
                  <a:srgbClr val="8E98B1"/>
                </a:solidFill>
                <a:latin typeface="Arial"/>
              </a:rPr>
              <a:t>Four phases, twenty-five screens, one team finding its rhythm.</a:t>
            </a:r>
          </a:p>
        </p:txBody>
      </p:sp>
      <p:sp>
        <p:nvSpPr>
          <p:cNvPr id="14" name="Rectangle 13"/>
          <p:cNvSpPr/>
          <p:nvPr/>
        </p:nvSpPr>
        <p:spPr>
          <a:xfrm>
            <a:off x="548640" y="2331720"/>
            <a:ext cx="2594610" cy="333756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 y="2560320"/>
            <a:ext cx="868680" cy="292608"/>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2560320"/>
            <a:ext cx="868680" cy="292608"/>
          </a:xfrm>
          <a:prstGeom prst="rect">
            <a:avLst/>
          </a:prstGeom>
          <a:noFill/>
        </p:spPr>
        <p:txBody>
          <a:bodyPr wrap="square" lIns="0" tIns="0" rIns="0" bIns="0" anchor="ctr">
            <a:spAutoFit/>
          </a:bodyPr>
          <a:lstStyle/>
          <a:p>
            <a:pPr algn="ctr"/>
            <a:r>
              <a:rPr sz="1000" b="1" i="0" spc="400">
                <a:solidFill>
                  <a:srgbClr val="AFCFF8"/>
                </a:solidFill>
                <a:latin typeface="Arial"/>
              </a:rPr>
              <a:t>ALIGN</a:t>
            </a:r>
          </a:p>
        </p:txBody>
      </p:sp>
      <p:sp>
        <p:nvSpPr>
          <p:cNvPr id="17" name="TextBox 16"/>
          <p:cNvSpPr txBox="1"/>
          <p:nvPr/>
        </p:nvSpPr>
        <p:spPr>
          <a:xfrm>
            <a:off x="2366010" y="2496312"/>
            <a:ext cx="548640" cy="457200"/>
          </a:xfrm>
          <a:prstGeom prst="rect">
            <a:avLst/>
          </a:prstGeom>
          <a:noFill/>
        </p:spPr>
        <p:txBody>
          <a:bodyPr wrap="square" lIns="0" tIns="0" rIns="0" bIns="0" anchor="ctr">
            <a:spAutoFit/>
          </a:bodyPr>
          <a:lstStyle/>
          <a:p>
            <a:pPr algn="r"/>
            <a:r>
              <a:rPr sz="2200" b="1" i="0">
                <a:solidFill>
                  <a:srgbClr val="062A4B"/>
                </a:solidFill>
                <a:latin typeface="Arial"/>
              </a:rPr>
              <a:t>★</a:t>
            </a:r>
          </a:p>
        </p:txBody>
      </p:sp>
      <p:sp>
        <p:nvSpPr>
          <p:cNvPr id="18" name="TextBox 17"/>
          <p:cNvSpPr txBox="1"/>
          <p:nvPr/>
        </p:nvSpPr>
        <p:spPr>
          <a:xfrm>
            <a:off x="777240" y="3063240"/>
            <a:ext cx="2137410" cy="1005840"/>
          </a:xfrm>
          <a:prstGeom prst="rect">
            <a:avLst/>
          </a:prstGeom>
          <a:noFill/>
        </p:spPr>
        <p:txBody>
          <a:bodyPr wrap="square" lIns="0" tIns="0" rIns="0" bIns="0" anchor="t">
            <a:spAutoFit/>
          </a:bodyPr>
          <a:lstStyle/>
          <a:p>
            <a:pPr algn="l"/>
            <a:r>
              <a:rPr sz="6200" b="1" i="0">
                <a:solidFill>
                  <a:srgbClr val="062A4B"/>
                </a:solidFill>
                <a:latin typeface="Arial"/>
              </a:rPr>
              <a:t>1</a:t>
            </a:r>
          </a:p>
        </p:txBody>
      </p:sp>
      <p:sp>
        <p:nvSpPr>
          <p:cNvPr id="19" name="TextBox 18"/>
          <p:cNvSpPr txBox="1"/>
          <p:nvPr/>
        </p:nvSpPr>
        <p:spPr>
          <a:xfrm>
            <a:off x="777240" y="4114800"/>
            <a:ext cx="2137410" cy="822960"/>
          </a:xfrm>
          <a:prstGeom prst="rect">
            <a:avLst/>
          </a:prstGeom>
          <a:noFill/>
        </p:spPr>
        <p:txBody>
          <a:bodyPr wrap="square" lIns="0" tIns="0" rIns="0" bIns="0" anchor="t">
            <a:spAutoFit/>
          </a:bodyPr>
          <a:lstStyle/>
          <a:p>
            <a:pPr algn="l"/>
            <a:r>
              <a:rPr sz="1600" b="1" i="0">
                <a:solidFill>
                  <a:srgbClr val="062A4B"/>
                </a:solidFill>
                <a:latin typeface="Arial"/>
              </a:rPr>
              <a:t>Kickoff &amp;</a:t>
            </a:r>
          </a:p>
          <a:p>
            <a:pPr algn="l"/>
            <a:r>
              <a:rPr sz="1600" b="1" i="0">
                <a:solidFill>
                  <a:srgbClr val="062A4B"/>
                </a:solidFill>
                <a:latin typeface="Arial"/>
              </a:rPr>
              <a:t>Setup</a:t>
            </a:r>
          </a:p>
        </p:txBody>
      </p:sp>
      <p:sp>
        <p:nvSpPr>
          <p:cNvPr id="20" name="TextBox 19"/>
          <p:cNvSpPr txBox="1"/>
          <p:nvPr/>
        </p:nvSpPr>
        <p:spPr>
          <a:xfrm>
            <a:off x="777240" y="4937760"/>
            <a:ext cx="2137410" cy="685800"/>
          </a:xfrm>
          <a:prstGeom prst="rect">
            <a:avLst/>
          </a:prstGeom>
          <a:noFill/>
        </p:spPr>
        <p:txBody>
          <a:bodyPr wrap="square" lIns="0" tIns="0" rIns="0" bIns="0" anchor="t">
            <a:spAutoFit/>
          </a:bodyPr>
          <a:lstStyle/>
          <a:p>
            <a:pPr algn="l"/>
            <a:r>
              <a:rPr sz="1050" b="0" i="0">
                <a:solidFill>
                  <a:srgbClr val="062A4B"/>
                </a:solidFill>
                <a:latin typeface="Arial"/>
              </a:rPr>
              <a:t>Talked to the sponsor, locked the scope, got everyone on the same channel.</a:t>
            </a:r>
          </a:p>
        </p:txBody>
      </p:sp>
      <p:sp>
        <p:nvSpPr>
          <p:cNvPr id="21" name="TextBox 20"/>
          <p:cNvSpPr txBox="1"/>
          <p:nvPr/>
        </p:nvSpPr>
        <p:spPr>
          <a:xfrm>
            <a:off x="3161538" y="3771900"/>
            <a:ext cx="192024" cy="457200"/>
          </a:xfrm>
          <a:prstGeom prst="rect">
            <a:avLst/>
          </a:prstGeom>
          <a:noFill/>
        </p:spPr>
        <p:txBody>
          <a:bodyPr wrap="square" lIns="0" tIns="0" rIns="0" bIns="0" anchor="ctr">
            <a:spAutoFit/>
          </a:bodyPr>
          <a:lstStyle/>
          <a:p>
            <a:pPr algn="ctr"/>
            <a:r>
              <a:rPr sz="2200" b="1" i="0">
                <a:solidFill>
                  <a:srgbClr val="1863DC"/>
                </a:solidFill>
                <a:latin typeface="Arial"/>
              </a:rPr>
              <a:t>→</a:t>
            </a:r>
          </a:p>
        </p:txBody>
      </p:sp>
      <p:sp>
        <p:nvSpPr>
          <p:cNvPr id="22" name="Rectangle 21"/>
          <p:cNvSpPr/>
          <p:nvPr/>
        </p:nvSpPr>
        <p:spPr>
          <a:xfrm>
            <a:off x="3371850" y="2331720"/>
            <a:ext cx="2594610" cy="3337560"/>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00450" y="2560320"/>
            <a:ext cx="868680" cy="292608"/>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00450" y="2560320"/>
            <a:ext cx="868680" cy="292608"/>
          </a:xfrm>
          <a:prstGeom prst="rect">
            <a:avLst/>
          </a:prstGeom>
          <a:noFill/>
        </p:spPr>
        <p:txBody>
          <a:bodyPr wrap="square" lIns="0" tIns="0" rIns="0" bIns="0" anchor="ctr">
            <a:spAutoFit/>
          </a:bodyPr>
          <a:lstStyle/>
          <a:p>
            <a:pPr algn="ctr"/>
            <a:r>
              <a:rPr sz="1000" b="1" i="0" spc="400">
                <a:solidFill>
                  <a:srgbClr val="A7F1DA"/>
                </a:solidFill>
                <a:latin typeface="Arial"/>
              </a:rPr>
              <a:t>PIVOT</a:t>
            </a:r>
          </a:p>
        </p:txBody>
      </p:sp>
      <p:sp>
        <p:nvSpPr>
          <p:cNvPr id="25" name="TextBox 24"/>
          <p:cNvSpPr txBox="1"/>
          <p:nvPr/>
        </p:nvSpPr>
        <p:spPr>
          <a:xfrm>
            <a:off x="5189220" y="2496312"/>
            <a:ext cx="548640" cy="457200"/>
          </a:xfrm>
          <a:prstGeom prst="rect">
            <a:avLst/>
          </a:prstGeom>
          <a:noFill/>
        </p:spPr>
        <p:txBody>
          <a:bodyPr wrap="square" lIns="0" tIns="0" rIns="0" bIns="0" anchor="ctr">
            <a:spAutoFit/>
          </a:bodyPr>
          <a:lstStyle/>
          <a:p>
            <a:pPr algn="r"/>
            <a:r>
              <a:rPr sz="2200" b="1" i="0">
                <a:solidFill>
                  <a:srgbClr val="062A4B"/>
                </a:solidFill>
                <a:latin typeface="Arial"/>
              </a:rPr>
              <a:t>↻</a:t>
            </a:r>
          </a:p>
        </p:txBody>
      </p:sp>
      <p:sp>
        <p:nvSpPr>
          <p:cNvPr id="26" name="TextBox 25"/>
          <p:cNvSpPr txBox="1"/>
          <p:nvPr/>
        </p:nvSpPr>
        <p:spPr>
          <a:xfrm>
            <a:off x="3600450" y="3063240"/>
            <a:ext cx="2137410" cy="1005840"/>
          </a:xfrm>
          <a:prstGeom prst="rect">
            <a:avLst/>
          </a:prstGeom>
          <a:noFill/>
        </p:spPr>
        <p:txBody>
          <a:bodyPr wrap="square" lIns="0" tIns="0" rIns="0" bIns="0" anchor="t">
            <a:spAutoFit/>
          </a:bodyPr>
          <a:lstStyle/>
          <a:p>
            <a:pPr algn="l"/>
            <a:r>
              <a:rPr sz="6200" b="1" i="0">
                <a:solidFill>
                  <a:srgbClr val="062A4B"/>
                </a:solidFill>
                <a:latin typeface="Arial"/>
              </a:rPr>
              <a:t>2</a:t>
            </a:r>
          </a:p>
        </p:txBody>
      </p:sp>
      <p:sp>
        <p:nvSpPr>
          <p:cNvPr id="27" name="TextBox 26"/>
          <p:cNvSpPr txBox="1"/>
          <p:nvPr/>
        </p:nvSpPr>
        <p:spPr>
          <a:xfrm>
            <a:off x="3600450" y="4114800"/>
            <a:ext cx="2137410" cy="822960"/>
          </a:xfrm>
          <a:prstGeom prst="rect">
            <a:avLst/>
          </a:prstGeom>
          <a:noFill/>
        </p:spPr>
        <p:txBody>
          <a:bodyPr wrap="square" lIns="0" tIns="0" rIns="0" bIns="0" anchor="t">
            <a:spAutoFit/>
          </a:bodyPr>
          <a:lstStyle/>
          <a:p>
            <a:pPr algn="l"/>
            <a:r>
              <a:rPr sz="1600" b="1" i="0">
                <a:solidFill>
                  <a:srgbClr val="062A4B"/>
                </a:solidFill>
                <a:latin typeface="Arial"/>
              </a:rPr>
              <a:t>Find the</a:t>
            </a:r>
          </a:p>
          <a:p>
            <a:pPr algn="l"/>
            <a:r>
              <a:rPr sz="1600" b="1" i="0">
                <a:solidFill>
                  <a:srgbClr val="062A4B"/>
                </a:solidFill>
                <a:latin typeface="Arial"/>
              </a:rPr>
              <a:t>Approach</a:t>
            </a:r>
          </a:p>
        </p:txBody>
      </p:sp>
      <p:sp>
        <p:nvSpPr>
          <p:cNvPr id="28" name="TextBox 27"/>
          <p:cNvSpPr txBox="1"/>
          <p:nvPr/>
        </p:nvSpPr>
        <p:spPr>
          <a:xfrm>
            <a:off x="3600450" y="4937760"/>
            <a:ext cx="2137410" cy="685800"/>
          </a:xfrm>
          <a:prstGeom prst="rect">
            <a:avLst/>
          </a:prstGeom>
          <a:noFill/>
        </p:spPr>
        <p:txBody>
          <a:bodyPr wrap="square" lIns="0" tIns="0" rIns="0" bIns="0" anchor="t">
            <a:spAutoFit/>
          </a:bodyPr>
          <a:lstStyle/>
          <a:p>
            <a:pPr algn="l"/>
            <a:r>
              <a:rPr sz="1050" b="0" i="0">
                <a:solidFill>
                  <a:srgbClr val="062A4B"/>
                </a:solidFill>
                <a:latin typeface="Arial"/>
              </a:rPr>
              <a:t>First plan didn't scale  —  we switched to one screen at a time.</a:t>
            </a:r>
          </a:p>
        </p:txBody>
      </p:sp>
      <p:sp>
        <p:nvSpPr>
          <p:cNvPr id="29" name="TextBox 28"/>
          <p:cNvSpPr txBox="1"/>
          <p:nvPr/>
        </p:nvSpPr>
        <p:spPr>
          <a:xfrm>
            <a:off x="5984748" y="3771900"/>
            <a:ext cx="192024" cy="457200"/>
          </a:xfrm>
          <a:prstGeom prst="rect">
            <a:avLst/>
          </a:prstGeom>
          <a:noFill/>
        </p:spPr>
        <p:txBody>
          <a:bodyPr wrap="square" lIns="0" tIns="0" rIns="0" bIns="0" anchor="ctr">
            <a:spAutoFit/>
          </a:bodyPr>
          <a:lstStyle/>
          <a:p>
            <a:pPr algn="ctr"/>
            <a:r>
              <a:rPr sz="2200" b="1" i="0">
                <a:solidFill>
                  <a:srgbClr val="1863DC"/>
                </a:solidFill>
                <a:latin typeface="Arial"/>
              </a:rPr>
              <a:t>→</a:t>
            </a:r>
          </a:p>
        </p:txBody>
      </p:sp>
      <p:sp>
        <p:nvSpPr>
          <p:cNvPr id="30" name="Rectangle 29"/>
          <p:cNvSpPr/>
          <p:nvPr/>
        </p:nvSpPr>
        <p:spPr>
          <a:xfrm>
            <a:off x="6195060" y="2331720"/>
            <a:ext cx="2594610" cy="3337560"/>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423660" y="2560320"/>
            <a:ext cx="868680" cy="292608"/>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23660" y="2560320"/>
            <a:ext cx="868680" cy="292608"/>
          </a:xfrm>
          <a:prstGeom prst="rect">
            <a:avLst/>
          </a:prstGeom>
          <a:noFill/>
        </p:spPr>
        <p:txBody>
          <a:bodyPr wrap="square" lIns="0" tIns="0" rIns="0" bIns="0" anchor="ctr">
            <a:spAutoFit/>
          </a:bodyPr>
          <a:lstStyle/>
          <a:p>
            <a:pPr algn="ctr"/>
            <a:r>
              <a:rPr sz="1000" b="1" i="0" spc="400">
                <a:solidFill>
                  <a:srgbClr val="DEC4F8"/>
                </a:solidFill>
                <a:latin typeface="Arial"/>
              </a:rPr>
              <a:t>BUILD</a:t>
            </a:r>
          </a:p>
        </p:txBody>
      </p:sp>
      <p:sp>
        <p:nvSpPr>
          <p:cNvPr id="33" name="TextBox 32"/>
          <p:cNvSpPr txBox="1"/>
          <p:nvPr/>
        </p:nvSpPr>
        <p:spPr>
          <a:xfrm>
            <a:off x="8012430" y="2496312"/>
            <a:ext cx="548640" cy="457200"/>
          </a:xfrm>
          <a:prstGeom prst="rect">
            <a:avLst/>
          </a:prstGeom>
          <a:noFill/>
        </p:spPr>
        <p:txBody>
          <a:bodyPr wrap="square" lIns="0" tIns="0" rIns="0" bIns="0" anchor="ctr">
            <a:spAutoFit/>
          </a:bodyPr>
          <a:lstStyle/>
          <a:p>
            <a:pPr algn="r"/>
            <a:r>
              <a:rPr sz="2200" b="1" i="0">
                <a:solidFill>
                  <a:srgbClr val="062A4B"/>
                </a:solidFill>
                <a:latin typeface="Arial"/>
              </a:rPr>
              <a:t>⚡</a:t>
            </a:r>
          </a:p>
        </p:txBody>
      </p:sp>
      <p:sp>
        <p:nvSpPr>
          <p:cNvPr id="34" name="TextBox 33"/>
          <p:cNvSpPr txBox="1"/>
          <p:nvPr/>
        </p:nvSpPr>
        <p:spPr>
          <a:xfrm>
            <a:off x="6423660" y="3063240"/>
            <a:ext cx="2137410" cy="1005840"/>
          </a:xfrm>
          <a:prstGeom prst="rect">
            <a:avLst/>
          </a:prstGeom>
          <a:noFill/>
        </p:spPr>
        <p:txBody>
          <a:bodyPr wrap="square" lIns="0" tIns="0" rIns="0" bIns="0" anchor="t">
            <a:spAutoFit/>
          </a:bodyPr>
          <a:lstStyle/>
          <a:p>
            <a:pPr algn="l"/>
            <a:r>
              <a:rPr sz="6200" b="1" i="0">
                <a:solidFill>
                  <a:srgbClr val="062A4B"/>
                </a:solidFill>
                <a:latin typeface="Arial"/>
              </a:rPr>
              <a:t>3</a:t>
            </a:r>
          </a:p>
        </p:txBody>
      </p:sp>
      <p:sp>
        <p:nvSpPr>
          <p:cNvPr id="35" name="TextBox 34"/>
          <p:cNvSpPr txBox="1"/>
          <p:nvPr/>
        </p:nvSpPr>
        <p:spPr>
          <a:xfrm>
            <a:off x="6423660" y="4114800"/>
            <a:ext cx="2137410" cy="822960"/>
          </a:xfrm>
          <a:prstGeom prst="rect">
            <a:avLst/>
          </a:prstGeom>
          <a:noFill/>
        </p:spPr>
        <p:txBody>
          <a:bodyPr wrap="square" lIns="0" tIns="0" rIns="0" bIns="0" anchor="t">
            <a:spAutoFit/>
          </a:bodyPr>
          <a:lstStyle/>
          <a:p>
            <a:pPr algn="l"/>
            <a:r>
              <a:rPr sz="1600" b="1" i="0">
                <a:solidFill>
                  <a:srgbClr val="062A4B"/>
                </a:solidFill>
                <a:latin typeface="Arial"/>
              </a:rPr>
              <a:t>Migrate</a:t>
            </a:r>
          </a:p>
          <a:p>
            <a:pPr algn="l"/>
            <a:r>
              <a:rPr sz="1600" b="1" i="0">
                <a:solidFill>
                  <a:srgbClr val="062A4B"/>
                </a:solidFill>
                <a:latin typeface="Arial"/>
              </a:rPr>
              <a:t>Screen by Screen</a:t>
            </a:r>
          </a:p>
        </p:txBody>
      </p:sp>
      <p:sp>
        <p:nvSpPr>
          <p:cNvPr id="36" name="TextBox 35"/>
          <p:cNvSpPr txBox="1"/>
          <p:nvPr/>
        </p:nvSpPr>
        <p:spPr>
          <a:xfrm>
            <a:off x="6423660" y="4937760"/>
            <a:ext cx="2137410" cy="685800"/>
          </a:xfrm>
          <a:prstGeom prst="rect">
            <a:avLst/>
          </a:prstGeom>
          <a:noFill/>
        </p:spPr>
        <p:txBody>
          <a:bodyPr wrap="square" lIns="0" tIns="0" rIns="0" bIns="0" anchor="t">
            <a:spAutoFit/>
          </a:bodyPr>
          <a:lstStyle/>
          <a:p>
            <a:pPr algn="l"/>
            <a:r>
              <a:rPr sz="1050" b="0" i="0">
                <a:solidFill>
                  <a:srgbClr val="062A4B"/>
                </a:solidFill>
                <a:latin typeface="Arial"/>
              </a:rPr>
              <a:t>AI drafted, humans polished, monkey testing for QA, reviewer signed off.</a:t>
            </a:r>
          </a:p>
        </p:txBody>
      </p:sp>
      <p:sp>
        <p:nvSpPr>
          <p:cNvPr id="37" name="TextBox 36"/>
          <p:cNvSpPr txBox="1"/>
          <p:nvPr/>
        </p:nvSpPr>
        <p:spPr>
          <a:xfrm>
            <a:off x="8807958" y="3771900"/>
            <a:ext cx="192024" cy="457200"/>
          </a:xfrm>
          <a:prstGeom prst="rect">
            <a:avLst/>
          </a:prstGeom>
          <a:noFill/>
        </p:spPr>
        <p:txBody>
          <a:bodyPr wrap="square" lIns="0" tIns="0" rIns="0" bIns="0" anchor="ctr">
            <a:spAutoFit/>
          </a:bodyPr>
          <a:lstStyle/>
          <a:p>
            <a:pPr algn="ctr"/>
            <a:r>
              <a:rPr sz="2200" b="1" i="0">
                <a:solidFill>
                  <a:srgbClr val="1863DC"/>
                </a:solidFill>
                <a:latin typeface="Arial"/>
              </a:rPr>
              <a:t>→</a:t>
            </a:r>
          </a:p>
        </p:txBody>
      </p:sp>
      <p:sp>
        <p:nvSpPr>
          <p:cNvPr id="38" name="Rectangle 37"/>
          <p:cNvSpPr/>
          <p:nvPr/>
        </p:nvSpPr>
        <p:spPr>
          <a:xfrm>
            <a:off x="9018270" y="2331720"/>
            <a:ext cx="2594610" cy="333756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246870" y="2560320"/>
            <a:ext cx="868680" cy="292608"/>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246870" y="2560320"/>
            <a:ext cx="868680" cy="292608"/>
          </a:xfrm>
          <a:prstGeom prst="rect">
            <a:avLst/>
          </a:prstGeom>
          <a:noFill/>
        </p:spPr>
        <p:txBody>
          <a:bodyPr wrap="square" lIns="0" tIns="0" rIns="0" bIns="0" anchor="ctr">
            <a:spAutoFit/>
          </a:bodyPr>
          <a:lstStyle/>
          <a:p>
            <a:pPr algn="ctr"/>
            <a:r>
              <a:rPr sz="1000" b="1" i="0" spc="400">
                <a:solidFill>
                  <a:srgbClr val="AFCFF8"/>
                </a:solidFill>
                <a:latin typeface="Arial"/>
              </a:rPr>
              <a:t>REVIEW</a:t>
            </a:r>
          </a:p>
        </p:txBody>
      </p:sp>
      <p:sp>
        <p:nvSpPr>
          <p:cNvPr id="41" name="TextBox 40"/>
          <p:cNvSpPr txBox="1"/>
          <p:nvPr/>
        </p:nvSpPr>
        <p:spPr>
          <a:xfrm>
            <a:off x="10835640" y="2496312"/>
            <a:ext cx="548640" cy="457200"/>
          </a:xfrm>
          <a:prstGeom prst="rect">
            <a:avLst/>
          </a:prstGeom>
          <a:noFill/>
        </p:spPr>
        <p:txBody>
          <a:bodyPr wrap="square" lIns="0" tIns="0" rIns="0" bIns="0" anchor="ctr">
            <a:spAutoFit/>
          </a:bodyPr>
          <a:lstStyle/>
          <a:p>
            <a:pPr algn="r"/>
            <a:r>
              <a:rPr sz="2200" b="1" i="0">
                <a:solidFill>
                  <a:srgbClr val="062A4B"/>
                </a:solidFill>
                <a:latin typeface="Arial"/>
              </a:rPr>
              <a:t>✓</a:t>
            </a:r>
          </a:p>
        </p:txBody>
      </p:sp>
      <p:sp>
        <p:nvSpPr>
          <p:cNvPr id="42" name="TextBox 41"/>
          <p:cNvSpPr txBox="1"/>
          <p:nvPr/>
        </p:nvSpPr>
        <p:spPr>
          <a:xfrm>
            <a:off x="9246870" y="3063240"/>
            <a:ext cx="2137410" cy="1005840"/>
          </a:xfrm>
          <a:prstGeom prst="rect">
            <a:avLst/>
          </a:prstGeom>
          <a:noFill/>
        </p:spPr>
        <p:txBody>
          <a:bodyPr wrap="square" lIns="0" tIns="0" rIns="0" bIns="0" anchor="t">
            <a:spAutoFit/>
          </a:bodyPr>
          <a:lstStyle/>
          <a:p>
            <a:pPr algn="l"/>
            <a:r>
              <a:rPr sz="6200" b="1" i="0">
                <a:solidFill>
                  <a:srgbClr val="062A4B"/>
                </a:solidFill>
                <a:latin typeface="Arial"/>
              </a:rPr>
              <a:t>4</a:t>
            </a:r>
          </a:p>
        </p:txBody>
      </p:sp>
      <p:sp>
        <p:nvSpPr>
          <p:cNvPr id="43" name="TextBox 42"/>
          <p:cNvSpPr txBox="1"/>
          <p:nvPr/>
        </p:nvSpPr>
        <p:spPr>
          <a:xfrm>
            <a:off x="9246870" y="4114800"/>
            <a:ext cx="2137410" cy="822960"/>
          </a:xfrm>
          <a:prstGeom prst="rect">
            <a:avLst/>
          </a:prstGeom>
          <a:noFill/>
        </p:spPr>
        <p:txBody>
          <a:bodyPr wrap="square" lIns="0" tIns="0" rIns="0" bIns="0" anchor="t">
            <a:spAutoFit/>
          </a:bodyPr>
          <a:lstStyle/>
          <a:p>
            <a:pPr algn="l"/>
            <a:r>
              <a:rPr sz="1600" b="1" i="0">
                <a:solidFill>
                  <a:srgbClr val="062A4B"/>
                </a:solidFill>
                <a:latin typeface="Arial"/>
              </a:rPr>
              <a:t>Sponsor</a:t>
            </a:r>
          </a:p>
          <a:p>
            <a:pPr algn="l"/>
            <a:r>
              <a:rPr sz="1600" b="1" i="0">
                <a:solidFill>
                  <a:srgbClr val="062A4B"/>
                </a:solidFill>
                <a:latin typeface="Arial"/>
              </a:rPr>
              <a:t>Review</a:t>
            </a:r>
          </a:p>
        </p:txBody>
      </p:sp>
      <p:sp>
        <p:nvSpPr>
          <p:cNvPr id="44" name="TextBox 43"/>
          <p:cNvSpPr txBox="1"/>
          <p:nvPr/>
        </p:nvSpPr>
        <p:spPr>
          <a:xfrm>
            <a:off x="9246870" y="4937760"/>
            <a:ext cx="2137410" cy="685800"/>
          </a:xfrm>
          <a:prstGeom prst="rect">
            <a:avLst/>
          </a:prstGeom>
          <a:noFill/>
        </p:spPr>
        <p:txBody>
          <a:bodyPr wrap="square" lIns="0" tIns="0" rIns="0" bIns="0" anchor="t">
            <a:spAutoFit/>
          </a:bodyPr>
          <a:lstStyle/>
          <a:p>
            <a:pPr algn="l"/>
            <a:r>
              <a:rPr sz="1050" b="0" i="0">
                <a:solidFill>
                  <a:srgbClr val="062A4B"/>
                </a:solidFill>
                <a:latin typeface="Arial"/>
              </a:rPr>
              <a:t>Payreq senior eng pulled main, gave feedback, made us sharper each round.</a:t>
            </a:r>
          </a:p>
        </p:txBody>
      </p:sp>
      <p:sp>
        <p:nvSpPr>
          <p:cNvPr id="45" name="Rectangle 44"/>
          <p:cNvSpPr/>
          <p:nvPr/>
        </p:nvSpPr>
        <p:spPr>
          <a:xfrm>
            <a:off x="548640" y="5943600"/>
            <a:ext cx="11064240"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48640" y="5943600"/>
            <a:ext cx="109728" cy="502920"/>
          </a:xfrm>
          <a:prstGeom prst="rect">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6071949"/>
            <a:ext cx="10698480" cy="246221"/>
          </a:xfrm>
          <a:prstGeom prst="rect">
            <a:avLst/>
          </a:prstGeom>
          <a:noFill/>
        </p:spPr>
        <p:txBody>
          <a:bodyPr wrap="square" lIns="0" tIns="0" rIns="0" bIns="0" anchor="ctr">
            <a:spAutoFit/>
          </a:bodyPr>
          <a:lstStyle/>
          <a:p>
            <a:pPr algn="l"/>
            <a:r>
              <a:rPr sz="1600" b="1" i="0">
                <a:solidFill>
                  <a:srgbClr val="1863DC"/>
                </a:solidFill>
                <a:latin typeface="Arial"/>
              </a:rPr>
              <a:t>" </a:t>
            </a:r>
            <a:r>
              <a:rPr sz="1300" b="0" i="1">
                <a:solidFill>
                  <a:srgbClr val="062A4B"/>
                </a:solidFill>
                <a:latin typeface="Arial"/>
              </a:rPr>
              <a:t>It wasn't the plan that worked</a:t>
            </a:r>
            <a:r>
              <a:rPr lang="en-US" sz="1300" b="0" i="1">
                <a:solidFill>
                  <a:srgbClr val="062A4B"/>
                </a:solidFill>
                <a:latin typeface="Arial"/>
              </a:rPr>
              <a:t>,</a:t>
            </a:r>
            <a:r>
              <a:rPr sz="1300" b="0" i="1">
                <a:solidFill>
                  <a:srgbClr val="062A4B"/>
                </a:solidFill>
                <a:latin typeface="Arial"/>
              </a:rPr>
              <a:t> it was the rhythm we found.</a:t>
            </a:r>
            <a:r>
              <a:rPr sz="1600" b="1" i="0">
                <a:solidFill>
                  <a:srgbClr val="1863DC"/>
                </a:solidFill>
                <a:latin typeface="Arial"/>
              </a:rPr>
              <a:t>"</a:t>
            </a:r>
            <a:r>
              <a:rPr sz="1100" b="0" i="0">
                <a:solidFill>
                  <a:srgbClr val="8E98B1"/>
                </a:solidFill>
                <a:latin typeface="Arial"/>
              </a:rPr>
              <a:t>   ·  </a:t>
            </a:r>
          </a:p>
        </p:txBody>
      </p:sp>
      <p:sp>
        <p:nvSpPr>
          <p:cNvPr id="48" name="Rectangle 47"/>
          <p:cNvSpPr/>
          <p:nvPr/>
        </p:nvSpPr>
        <p:spPr>
          <a:xfrm>
            <a:off x="0" y="6537960"/>
            <a:ext cx="12192000" cy="3200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65760" y="6565392"/>
            <a:ext cx="2286000" cy="274320"/>
          </a:xfrm>
          <a:prstGeom prst="rect">
            <a:avLst/>
          </a:prstGeom>
          <a:noFill/>
        </p:spPr>
        <p:txBody>
          <a:bodyPr wrap="square" lIns="0" tIns="0" rIns="0" bIns="0" anchor="ctr">
            <a:spAutoFit/>
          </a:bodyPr>
          <a:lstStyle/>
          <a:p>
            <a:pPr algn="l"/>
            <a:r>
              <a:rPr sz="1000" b="0" i="0">
                <a:solidFill>
                  <a:srgbClr val="FFFFFF"/>
                </a:solidFill>
                <a:latin typeface="Arial"/>
              </a:rPr>
              <a:t>Copyright 2026</a:t>
            </a:r>
          </a:p>
        </p:txBody>
      </p:sp>
      <p:sp>
        <p:nvSpPr>
          <p:cNvPr id="50" name="TextBox 49"/>
          <p:cNvSpPr txBox="1"/>
          <p:nvPr/>
        </p:nvSpPr>
        <p:spPr>
          <a:xfrm>
            <a:off x="11430000" y="6565392"/>
            <a:ext cx="548640" cy="274320"/>
          </a:xfrm>
          <a:prstGeom prst="rect">
            <a:avLst/>
          </a:prstGeom>
          <a:noFill/>
        </p:spPr>
        <p:txBody>
          <a:bodyPr wrap="square" lIns="0" tIns="0" rIns="0" bIns="0" anchor="ctr">
            <a:spAutoFit/>
          </a:bodyPr>
          <a:lstStyle/>
          <a:p>
            <a:pPr algn="r"/>
            <a:r>
              <a:rPr sz="1000" b="0" i="0">
                <a:solidFill>
                  <a:srgbClr val="FFFFFF"/>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4"/>
          </p:nvPr>
        </p:nvSpPr>
        <p:spPr/>
        <p:txBody>
          <a:bodyPr/>
          <a:lstStyle/>
          <a:p>
            <a:endParaRPr/>
          </a:p>
        </p:txBody>
      </p:sp>
      <p:sp>
        <p:nvSpPr>
          <p:cNvPr id="5" name="Text Placeholder 4"/>
          <p:cNvSpPr>
            <a:spLocks noGrp="1"/>
          </p:cNvSpPr>
          <p:nvPr>
            <p:ph type="body" sz="quarter" idx="15"/>
          </p:nvPr>
        </p:nvSpPr>
        <p:spPr/>
        <p:txBody>
          <a:bodyPr/>
          <a:lstStyle/>
          <a:p>
            <a:endParaRPr/>
          </a:p>
        </p:txBody>
      </p:sp>
      <p:sp>
        <p:nvSpPr>
          <p:cNvPr id="6" name="Rectangle 5"/>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638788" y="0"/>
            <a:ext cx="553212" cy="276606"/>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362182" y="0"/>
            <a:ext cx="276606" cy="276606"/>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38788" y="276606"/>
            <a:ext cx="276606" cy="276606"/>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085576" y="276606"/>
            <a:ext cx="276606" cy="276606"/>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11480"/>
            <a:ext cx="7315200" cy="292608"/>
          </a:xfrm>
          <a:prstGeom prst="rect">
            <a:avLst/>
          </a:prstGeom>
          <a:noFill/>
        </p:spPr>
        <p:txBody>
          <a:bodyPr wrap="square" lIns="0" tIns="0" rIns="0" bIns="0" anchor="t">
            <a:spAutoFit/>
          </a:bodyPr>
          <a:lstStyle/>
          <a:p>
            <a:pPr algn="l"/>
            <a:r>
              <a:rPr sz="1100" b="1" i="0" spc="800">
                <a:solidFill>
                  <a:srgbClr val="1863DC"/>
                </a:solidFill>
                <a:latin typeface="Arial"/>
              </a:rPr>
              <a:t>PROCEDURE  ·  PHASE 1  ·  WEEK ZERO</a:t>
            </a:r>
          </a:p>
        </p:txBody>
      </p:sp>
      <p:sp>
        <p:nvSpPr>
          <p:cNvPr id="12" name="TextBox 11"/>
          <p:cNvSpPr txBox="1"/>
          <p:nvPr/>
        </p:nvSpPr>
        <p:spPr>
          <a:xfrm>
            <a:off x="548640" y="713232"/>
            <a:ext cx="10972800" cy="868680"/>
          </a:xfrm>
          <a:prstGeom prst="rect">
            <a:avLst/>
          </a:prstGeom>
          <a:noFill/>
        </p:spPr>
        <p:txBody>
          <a:bodyPr wrap="square" lIns="0" tIns="0" rIns="0" bIns="0" anchor="t">
            <a:spAutoFit/>
          </a:bodyPr>
          <a:lstStyle/>
          <a:p>
            <a:pPr algn="l"/>
            <a:r>
              <a:rPr sz="3600" b="1" i="0">
                <a:solidFill>
                  <a:srgbClr val="062A4B"/>
                </a:solidFill>
                <a:latin typeface="Arial"/>
              </a:rPr>
              <a:t>Kickoff &amp; Setup</a:t>
            </a:r>
          </a:p>
        </p:txBody>
      </p:sp>
      <p:sp>
        <p:nvSpPr>
          <p:cNvPr id="13" name="TextBox 12"/>
          <p:cNvSpPr txBox="1"/>
          <p:nvPr/>
        </p:nvSpPr>
        <p:spPr>
          <a:xfrm>
            <a:off x="548640" y="1691640"/>
            <a:ext cx="10972800" cy="200055"/>
          </a:xfrm>
          <a:prstGeom prst="rect">
            <a:avLst/>
          </a:prstGeom>
          <a:noFill/>
        </p:spPr>
        <p:txBody>
          <a:bodyPr wrap="square" lIns="0" tIns="0" rIns="0" bIns="0" anchor="t">
            <a:spAutoFit/>
          </a:bodyPr>
          <a:lstStyle/>
          <a:p>
            <a:pPr algn="l"/>
            <a:r>
              <a:rPr sz="1300" b="0" i="0">
                <a:solidFill>
                  <a:srgbClr val="8E98B1"/>
                </a:solidFill>
                <a:latin typeface="Arial"/>
              </a:rPr>
              <a:t>First we talked to the sponsor, to each other, to the legacy code. Then we built our launchpad.</a:t>
            </a:r>
          </a:p>
        </p:txBody>
      </p:sp>
      <p:sp>
        <p:nvSpPr>
          <p:cNvPr id="14" name="Rectangle 13"/>
          <p:cNvSpPr/>
          <p:nvPr/>
        </p:nvSpPr>
        <p:spPr>
          <a:xfrm>
            <a:off x="548640" y="2377440"/>
            <a:ext cx="2081174" cy="324612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52574" y="2560320"/>
            <a:ext cx="594360" cy="640080"/>
          </a:xfrm>
          <a:prstGeom prst="rect">
            <a:avLst/>
          </a:prstGeom>
          <a:noFill/>
        </p:spPr>
        <p:txBody>
          <a:bodyPr wrap="square" lIns="0" tIns="0" rIns="0" bIns="0" anchor="t">
            <a:spAutoFit/>
          </a:bodyPr>
          <a:lstStyle/>
          <a:p>
            <a:pPr algn="r"/>
            <a:r>
              <a:rPr sz="2800" b="1" i="0">
                <a:solidFill>
                  <a:srgbClr val="062A4B"/>
                </a:solidFill>
                <a:latin typeface="Arial"/>
              </a:rPr>
              <a:t>★</a:t>
            </a:r>
          </a:p>
        </p:txBody>
      </p:sp>
      <p:sp>
        <p:nvSpPr>
          <p:cNvPr id="16" name="TextBox 15"/>
          <p:cNvSpPr txBox="1"/>
          <p:nvPr/>
        </p:nvSpPr>
        <p:spPr>
          <a:xfrm>
            <a:off x="1715414" y="4663440"/>
            <a:ext cx="822960" cy="822960"/>
          </a:xfrm>
          <a:prstGeom prst="rect">
            <a:avLst/>
          </a:prstGeom>
          <a:noFill/>
        </p:spPr>
        <p:txBody>
          <a:bodyPr wrap="square" lIns="0" tIns="0" rIns="0" bIns="0" anchor="t">
            <a:spAutoFit/>
          </a:bodyPr>
          <a:lstStyle/>
          <a:p>
            <a:pPr algn="r"/>
            <a:r>
              <a:rPr sz="5400" b="1" i="0">
                <a:solidFill>
                  <a:srgbClr val="062A4B"/>
                </a:solidFill>
                <a:latin typeface="Arial"/>
              </a:rPr>
              <a:t>1</a:t>
            </a:r>
          </a:p>
        </p:txBody>
      </p:sp>
      <p:sp>
        <p:nvSpPr>
          <p:cNvPr id="17" name="TextBox 16"/>
          <p:cNvSpPr txBox="1"/>
          <p:nvPr/>
        </p:nvSpPr>
        <p:spPr>
          <a:xfrm>
            <a:off x="777240" y="3291840"/>
            <a:ext cx="1623974" cy="685800"/>
          </a:xfrm>
          <a:prstGeom prst="rect">
            <a:avLst/>
          </a:prstGeom>
          <a:noFill/>
        </p:spPr>
        <p:txBody>
          <a:bodyPr wrap="square" lIns="0" tIns="0" rIns="0" bIns="0" anchor="t">
            <a:spAutoFit/>
          </a:bodyPr>
          <a:lstStyle/>
          <a:p>
            <a:pPr algn="l"/>
            <a:r>
              <a:rPr sz="1400" b="1" i="0">
                <a:solidFill>
                  <a:srgbClr val="062A4B"/>
                </a:solidFill>
                <a:latin typeface="Arial"/>
              </a:rPr>
              <a:t>Sponsor Sync</a:t>
            </a:r>
          </a:p>
        </p:txBody>
      </p:sp>
      <p:sp>
        <p:nvSpPr>
          <p:cNvPr id="18" name="TextBox 17"/>
          <p:cNvSpPr txBox="1"/>
          <p:nvPr/>
        </p:nvSpPr>
        <p:spPr>
          <a:xfrm>
            <a:off x="777240" y="4023360"/>
            <a:ext cx="1623974" cy="1463040"/>
          </a:xfrm>
          <a:prstGeom prst="rect">
            <a:avLst/>
          </a:prstGeom>
          <a:noFill/>
        </p:spPr>
        <p:txBody>
          <a:bodyPr wrap="square" lIns="0" tIns="0" rIns="0" bIns="0" anchor="t">
            <a:spAutoFit/>
          </a:bodyPr>
          <a:lstStyle/>
          <a:p>
            <a:pPr algn="l"/>
            <a:r>
              <a:rPr sz="1050" b="0" i="0">
                <a:solidFill>
                  <a:srgbClr val="062A4B"/>
                </a:solidFill>
                <a:latin typeface="Arial"/>
              </a:rPr>
              <a:t>Discussed scope, asked clarifying questions, agreed on what "done" looks like.</a:t>
            </a:r>
          </a:p>
        </p:txBody>
      </p:sp>
      <p:sp>
        <p:nvSpPr>
          <p:cNvPr id="19" name="Rectangle 18"/>
          <p:cNvSpPr/>
          <p:nvPr/>
        </p:nvSpPr>
        <p:spPr>
          <a:xfrm>
            <a:off x="2794406" y="2377440"/>
            <a:ext cx="2081174" cy="3246120"/>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098340" y="2560320"/>
            <a:ext cx="594360" cy="640080"/>
          </a:xfrm>
          <a:prstGeom prst="rect">
            <a:avLst/>
          </a:prstGeom>
          <a:noFill/>
        </p:spPr>
        <p:txBody>
          <a:bodyPr wrap="square" lIns="0" tIns="0" rIns="0" bIns="0" anchor="t">
            <a:spAutoFit/>
          </a:bodyPr>
          <a:lstStyle/>
          <a:p>
            <a:pPr algn="r"/>
            <a:r>
              <a:rPr sz="2800" b="1" i="0">
                <a:solidFill>
                  <a:srgbClr val="062A4B"/>
                </a:solidFill>
                <a:latin typeface="Arial"/>
              </a:rPr>
              <a:t>25</a:t>
            </a:r>
          </a:p>
        </p:txBody>
      </p:sp>
      <p:sp>
        <p:nvSpPr>
          <p:cNvPr id="21" name="TextBox 20"/>
          <p:cNvSpPr txBox="1"/>
          <p:nvPr/>
        </p:nvSpPr>
        <p:spPr>
          <a:xfrm>
            <a:off x="3961180" y="4663440"/>
            <a:ext cx="822960" cy="822960"/>
          </a:xfrm>
          <a:prstGeom prst="rect">
            <a:avLst/>
          </a:prstGeom>
          <a:noFill/>
        </p:spPr>
        <p:txBody>
          <a:bodyPr wrap="square" lIns="0" tIns="0" rIns="0" bIns="0" anchor="t">
            <a:spAutoFit/>
          </a:bodyPr>
          <a:lstStyle/>
          <a:p>
            <a:pPr algn="r"/>
            <a:r>
              <a:rPr sz="5400" b="1" i="0">
                <a:solidFill>
                  <a:srgbClr val="062A4B"/>
                </a:solidFill>
                <a:latin typeface="Arial"/>
              </a:rPr>
              <a:t>2</a:t>
            </a:r>
          </a:p>
        </p:txBody>
      </p:sp>
      <p:sp>
        <p:nvSpPr>
          <p:cNvPr id="22" name="TextBox 21"/>
          <p:cNvSpPr txBox="1"/>
          <p:nvPr/>
        </p:nvSpPr>
        <p:spPr>
          <a:xfrm>
            <a:off x="3023006" y="3291840"/>
            <a:ext cx="1623974" cy="685800"/>
          </a:xfrm>
          <a:prstGeom prst="rect">
            <a:avLst/>
          </a:prstGeom>
          <a:noFill/>
        </p:spPr>
        <p:txBody>
          <a:bodyPr wrap="square" lIns="0" tIns="0" rIns="0" bIns="0" anchor="t">
            <a:spAutoFit/>
          </a:bodyPr>
          <a:lstStyle/>
          <a:p>
            <a:pPr algn="l"/>
            <a:r>
              <a:rPr sz="1400" b="1" i="0">
                <a:solidFill>
                  <a:srgbClr val="062A4B"/>
                </a:solidFill>
                <a:latin typeface="Arial"/>
              </a:rPr>
              <a:t>25 Screens Identified</a:t>
            </a:r>
          </a:p>
        </p:txBody>
      </p:sp>
      <p:sp>
        <p:nvSpPr>
          <p:cNvPr id="23" name="TextBox 22"/>
          <p:cNvSpPr txBox="1"/>
          <p:nvPr/>
        </p:nvSpPr>
        <p:spPr>
          <a:xfrm>
            <a:off x="3023006" y="4023360"/>
            <a:ext cx="1623974" cy="1463040"/>
          </a:xfrm>
          <a:prstGeom prst="rect">
            <a:avLst/>
          </a:prstGeom>
          <a:noFill/>
        </p:spPr>
        <p:txBody>
          <a:bodyPr wrap="square" lIns="0" tIns="0" rIns="0" bIns="0" anchor="t">
            <a:spAutoFit/>
          </a:bodyPr>
          <a:lstStyle/>
          <a:p>
            <a:pPr algn="l"/>
            <a:r>
              <a:rPr sz="1050" b="0" i="0">
                <a:solidFill>
                  <a:srgbClr val="062A4B"/>
                </a:solidFill>
                <a:latin typeface="Arial"/>
              </a:rPr>
              <a:t>Catalogued the delivery screens with each developer's ownership.</a:t>
            </a:r>
          </a:p>
        </p:txBody>
      </p:sp>
      <p:sp>
        <p:nvSpPr>
          <p:cNvPr id="24" name="Rectangle 23"/>
          <p:cNvSpPr/>
          <p:nvPr/>
        </p:nvSpPr>
        <p:spPr>
          <a:xfrm>
            <a:off x="5040172" y="2377440"/>
            <a:ext cx="2081174" cy="3246120"/>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44106" y="2560320"/>
            <a:ext cx="594360" cy="640080"/>
          </a:xfrm>
          <a:prstGeom prst="rect">
            <a:avLst/>
          </a:prstGeom>
          <a:noFill/>
        </p:spPr>
        <p:txBody>
          <a:bodyPr wrap="square" lIns="0" tIns="0" rIns="0" bIns="0" anchor="t">
            <a:spAutoFit/>
          </a:bodyPr>
          <a:lstStyle/>
          <a:p>
            <a:pPr algn="r"/>
            <a:r>
              <a:rPr sz="2800" b="1" i="0">
                <a:solidFill>
                  <a:srgbClr val="062A4B"/>
                </a:solidFill>
                <a:latin typeface="Arial"/>
              </a:rPr>
              <a:t>✉</a:t>
            </a:r>
          </a:p>
        </p:txBody>
      </p:sp>
      <p:sp>
        <p:nvSpPr>
          <p:cNvPr id="26" name="TextBox 25"/>
          <p:cNvSpPr txBox="1"/>
          <p:nvPr/>
        </p:nvSpPr>
        <p:spPr>
          <a:xfrm>
            <a:off x="6206946" y="4663440"/>
            <a:ext cx="822960" cy="822960"/>
          </a:xfrm>
          <a:prstGeom prst="rect">
            <a:avLst/>
          </a:prstGeom>
          <a:noFill/>
        </p:spPr>
        <p:txBody>
          <a:bodyPr wrap="square" lIns="0" tIns="0" rIns="0" bIns="0" anchor="t">
            <a:spAutoFit/>
          </a:bodyPr>
          <a:lstStyle/>
          <a:p>
            <a:pPr algn="r"/>
            <a:r>
              <a:rPr sz="5400" b="1" i="0">
                <a:solidFill>
                  <a:srgbClr val="062A4B"/>
                </a:solidFill>
                <a:latin typeface="Arial"/>
              </a:rPr>
              <a:t>3</a:t>
            </a:r>
          </a:p>
        </p:txBody>
      </p:sp>
      <p:sp>
        <p:nvSpPr>
          <p:cNvPr id="27" name="TextBox 26"/>
          <p:cNvSpPr txBox="1"/>
          <p:nvPr/>
        </p:nvSpPr>
        <p:spPr>
          <a:xfrm>
            <a:off x="5268772" y="3291840"/>
            <a:ext cx="1623974" cy="685800"/>
          </a:xfrm>
          <a:prstGeom prst="rect">
            <a:avLst/>
          </a:prstGeom>
          <a:noFill/>
        </p:spPr>
        <p:txBody>
          <a:bodyPr wrap="square" lIns="0" tIns="0" rIns="0" bIns="0" anchor="t">
            <a:spAutoFit/>
          </a:bodyPr>
          <a:lstStyle/>
          <a:p>
            <a:pPr algn="l"/>
            <a:r>
              <a:rPr sz="1400" b="1" i="0">
                <a:solidFill>
                  <a:srgbClr val="062A4B"/>
                </a:solidFill>
                <a:latin typeface="Arial"/>
              </a:rPr>
              <a:t>Channels Established</a:t>
            </a:r>
          </a:p>
        </p:txBody>
      </p:sp>
      <p:sp>
        <p:nvSpPr>
          <p:cNvPr id="28" name="TextBox 27"/>
          <p:cNvSpPr txBox="1"/>
          <p:nvPr/>
        </p:nvSpPr>
        <p:spPr>
          <a:xfrm>
            <a:off x="5268772" y="4023360"/>
            <a:ext cx="1623974" cy="646331"/>
          </a:xfrm>
          <a:prstGeom prst="rect">
            <a:avLst/>
          </a:prstGeom>
          <a:noFill/>
        </p:spPr>
        <p:txBody>
          <a:bodyPr wrap="square" lIns="0" tIns="0" rIns="0" bIns="0" anchor="t">
            <a:spAutoFit/>
          </a:bodyPr>
          <a:lstStyle/>
          <a:p>
            <a:pPr algn="l"/>
            <a:r>
              <a:rPr sz="1050" b="0" i="0">
                <a:solidFill>
                  <a:srgbClr val="062A4B"/>
                </a:solidFill>
                <a:latin typeface="Arial"/>
              </a:rPr>
              <a:t>Slack + </a:t>
            </a:r>
            <a:r>
              <a:rPr lang="en-US" sz="1050">
                <a:solidFill>
                  <a:srgbClr val="062A4B"/>
                </a:solidFill>
                <a:latin typeface="Arial"/>
              </a:rPr>
              <a:t>Discord</a:t>
            </a:r>
            <a:r>
              <a:rPr sz="1050" b="0" i="0">
                <a:solidFill>
                  <a:srgbClr val="062A4B"/>
                </a:solidFill>
                <a:latin typeface="Arial"/>
              </a:rPr>
              <a:t> workspaces, recurring standups, a sprint cadence.</a:t>
            </a:r>
          </a:p>
        </p:txBody>
      </p:sp>
      <p:sp>
        <p:nvSpPr>
          <p:cNvPr id="29" name="Rectangle 28"/>
          <p:cNvSpPr/>
          <p:nvPr/>
        </p:nvSpPr>
        <p:spPr>
          <a:xfrm>
            <a:off x="7285938" y="2377440"/>
            <a:ext cx="2081174" cy="324612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89872" y="2560320"/>
            <a:ext cx="594360" cy="640080"/>
          </a:xfrm>
          <a:prstGeom prst="rect">
            <a:avLst/>
          </a:prstGeom>
          <a:noFill/>
        </p:spPr>
        <p:txBody>
          <a:bodyPr wrap="square" lIns="0" tIns="0" rIns="0" bIns="0" anchor="t">
            <a:spAutoFit/>
          </a:bodyPr>
          <a:lstStyle/>
          <a:p>
            <a:pPr algn="r"/>
            <a:r>
              <a:rPr sz="2800" b="1" i="0">
                <a:solidFill>
                  <a:srgbClr val="062A4B"/>
                </a:solidFill>
                <a:latin typeface="Arial"/>
              </a:rPr>
              <a:t>⚙</a:t>
            </a:r>
          </a:p>
        </p:txBody>
      </p:sp>
      <p:sp>
        <p:nvSpPr>
          <p:cNvPr id="31" name="TextBox 30"/>
          <p:cNvSpPr txBox="1"/>
          <p:nvPr/>
        </p:nvSpPr>
        <p:spPr>
          <a:xfrm>
            <a:off x="8452712" y="4663440"/>
            <a:ext cx="822960" cy="822960"/>
          </a:xfrm>
          <a:prstGeom prst="rect">
            <a:avLst/>
          </a:prstGeom>
          <a:noFill/>
        </p:spPr>
        <p:txBody>
          <a:bodyPr wrap="square" lIns="0" tIns="0" rIns="0" bIns="0" anchor="t">
            <a:spAutoFit/>
          </a:bodyPr>
          <a:lstStyle/>
          <a:p>
            <a:pPr algn="r"/>
            <a:r>
              <a:rPr sz="5400" b="1" i="0">
                <a:solidFill>
                  <a:srgbClr val="062A4B"/>
                </a:solidFill>
                <a:latin typeface="Arial"/>
              </a:rPr>
              <a:t>4</a:t>
            </a:r>
          </a:p>
        </p:txBody>
      </p:sp>
      <p:sp>
        <p:nvSpPr>
          <p:cNvPr id="32" name="TextBox 31"/>
          <p:cNvSpPr txBox="1"/>
          <p:nvPr/>
        </p:nvSpPr>
        <p:spPr>
          <a:xfrm>
            <a:off x="7514538" y="3291840"/>
            <a:ext cx="1623974" cy="685800"/>
          </a:xfrm>
          <a:prstGeom prst="rect">
            <a:avLst/>
          </a:prstGeom>
          <a:noFill/>
        </p:spPr>
        <p:txBody>
          <a:bodyPr wrap="square" lIns="0" tIns="0" rIns="0" bIns="0" anchor="t">
            <a:spAutoFit/>
          </a:bodyPr>
          <a:lstStyle/>
          <a:p>
            <a:pPr algn="l"/>
            <a:r>
              <a:rPr sz="1400" b="1" i="0">
                <a:solidFill>
                  <a:srgbClr val="062A4B"/>
                </a:solidFill>
                <a:latin typeface="Arial"/>
              </a:rPr>
              <a:t>Environment Ready</a:t>
            </a:r>
          </a:p>
        </p:txBody>
      </p:sp>
      <p:sp>
        <p:nvSpPr>
          <p:cNvPr id="33" name="TextBox 32"/>
          <p:cNvSpPr txBox="1"/>
          <p:nvPr/>
        </p:nvSpPr>
        <p:spPr>
          <a:xfrm>
            <a:off x="7514538" y="4023360"/>
            <a:ext cx="1623974" cy="484748"/>
          </a:xfrm>
          <a:prstGeom prst="rect">
            <a:avLst/>
          </a:prstGeom>
          <a:noFill/>
        </p:spPr>
        <p:txBody>
          <a:bodyPr wrap="square" lIns="0" tIns="0" rIns="0" bIns="0" anchor="t">
            <a:spAutoFit/>
          </a:bodyPr>
          <a:lstStyle/>
          <a:p>
            <a:pPr algn="l"/>
            <a:r>
              <a:rPr sz="1050" b="0" i="0">
                <a:solidFill>
                  <a:srgbClr val="062A4B"/>
                </a:solidFill>
                <a:latin typeface="Arial"/>
              </a:rPr>
              <a:t>Cloned from Bitbucket, installed deps, ran the legacy app  parity.</a:t>
            </a:r>
          </a:p>
        </p:txBody>
      </p:sp>
      <p:sp>
        <p:nvSpPr>
          <p:cNvPr id="34" name="Rectangle 33"/>
          <p:cNvSpPr/>
          <p:nvPr/>
        </p:nvSpPr>
        <p:spPr>
          <a:xfrm>
            <a:off x="9531704" y="2377440"/>
            <a:ext cx="2081174" cy="3246120"/>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835638" y="2560320"/>
            <a:ext cx="594360" cy="640080"/>
          </a:xfrm>
          <a:prstGeom prst="rect">
            <a:avLst/>
          </a:prstGeom>
          <a:noFill/>
        </p:spPr>
        <p:txBody>
          <a:bodyPr wrap="square" lIns="0" tIns="0" rIns="0" bIns="0" anchor="t">
            <a:spAutoFit/>
          </a:bodyPr>
          <a:lstStyle/>
          <a:p>
            <a:pPr algn="r"/>
            <a:r>
              <a:rPr sz="2800" b="1" i="0">
                <a:solidFill>
                  <a:srgbClr val="062A4B"/>
                </a:solidFill>
                <a:latin typeface="Arial"/>
              </a:rPr>
              <a:t>🔗</a:t>
            </a:r>
          </a:p>
        </p:txBody>
      </p:sp>
      <p:sp>
        <p:nvSpPr>
          <p:cNvPr id="36" name="TextBox 35"/>
          <p:cNvSpPr txBox="1"/>
          <p:nvPr/>
        </p:nvSpPr>
        <p:spPr>
          <a:xfrm>
            <a:off x="10698478" y="4663440"/>
            <a:ext cx="822960" cy="822960"/>
          </a:xfrm>
          <a:prstGeom prst="rect">
            <a:avLst/>
          </a:prstGeom>
          <a:noFill/>
        </p:spPr>
        <p:txBody>
          <a:bodyPr wrap="square" lIns="0" tIns="0" rIns="0" bIns="0" anchor="t">
            <a:spAutoFit/>
          </a:bodyPr>
          <a:lstStyle/>
          <a:p>
            <a:pPr algn="r"/>
            <a:r>
              <a:rPr sz="5400" b="1" i="0">
                <a:solidFill>
                  <a:srgbClr val="062A4B"/>
                </a:solidFill>
                <a:latin typeface="Arial"/>
              </a:rPr>
              <a:t>5</a:t>
            </a:r>
          </a:p>
        </p:txBody>
      </p:sp>
      <p:sp>
        <p:nvSpPr>
          <p:cNvPr id="37" name="TextBox 36"/>
          <p:cNvSpPr txBox="1"/>
          <p:nvPr/>
        </p:nvSpPr>
        <p:spPr>
          <a:xfrm>
            <a:off x="9760304" y="3291840"/>
            <a:ext cx="1623974" cy="215444"/>
          </a:xfrm>
          <a:prstGeom prst="rect">
            <a:avLst/>
          </a:prstGeom>
          <a:noFill/>
        </p:spPr>
        <p:txBody>
          <a:bodyPr wrap="square" lIns="0" tIns="0" rIns="0" bIns="0" anchor="t">
            <a:spAutoFit/>
          </a:bodyPr>
          <a:lstStyle/>
          <a:p>
            <a:pPr algn="l"/>
            <a:r>
              <a:rPr sz="1400" b="1" i="0">
                <a:solidFill>
                  <a:srgbClr val="062A4B"/>
                </a:solidFill>
                <a:latin typeface="Arial"/>
              </a:rPr>
              <a:t>Test </a:t>
            </a:r>
            <a:r>
              <a:rPr lang="en-US" sz="1400" b="1">
                <a:solidFill>
                  <a:srgbClr val="062A4B"/>
                </a:solidFill>
                <a:latin typeface="Arial"/>
              </a:rPr>
              <a:t>Account</a:t>
            </a:r>
            <a:endParaRPr sz="1400" b="1" i="0">
              <a:solidFill>
                <a:srgbClr val="062A4B"/>
              </a:solidFill>
              <a:latin typeface="Arial"/>
            </a:endParaRPr>
          </a:p>
        </p:txBody>
      </p:sp>
      <p:sp>
        <p:nvSpPr>
          <p:cNvPr id="38" name="TextBox 37"/>
          <p:cNvSpPr txBox="1"/>
          <p:nvPr/>
        </p:nvSpPr>
        <p:spPr>
          <a:xfrm>
            <a:off x="9760304" y="4023360"/>
            <a:ext cx="1623974" cy="484748"/>
          </a:xfrm>
          <a:prstGeom prst="rect">
            <a:avLst/>
          </a:prstGeom>
          <a:noFill/>
        </p:spPr>
        <p:txBody>
          <a:bodyPr wrap="square" lIns="0" tIns="0" rIns="0" bIns="0" anchor="t">
            <a:spAutoFit/>
          </a:bodyPr>
          <a:lstStyle/>
          <a:p>
            <a:pPr algn="l"/>
            <a:r>
              <a:rPr sz="1050" b="0" i="0" err="1">
                <a:solidFill>
                  <a:srgbClr val="062A4B"/>
                </a:solidFill>
                <a:latin typeface="Arial"/>
              </a:rPr>
              <a:t>Payreq</a:t>
            </a:r>
            <a:r>
              <a:rPr sz="1050" b="0" i="0">
                <a:solidFill>
                  <a:srgbClr val="062A4B"/>
                </a:solidFill>
                <a:latin typeface="Arial"/>
              </a:rPr>
              <a:t> reference URL    our ground truth for every migrated screen.</a:t>
            </a:r>
          </a:p>
        </p:txBody>
      </p:sp>
      <p:sp>
        <p:nvSpPr>
          <p:cNvPr id="39" name="Rectangle 38"/>
          <p:cNvSpPr/>
          <p:nvPr/>
        </p:nvSpPr>
        <p:spPr>
          <a:xfrm>
            <a:off x="548640" y="5897880"/>
            <a:ext cx="11064240" cy="5486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48640" y="5897880"/>
            <a:ext cx="109728" cy="548640"/>
          </a:xfrm>
          <a:prstGeom prst="rect">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 y="5897880"/>
            <a:ext cx="10698480" cy="548640"/>
          </a:xfrm>
          <a:prstGeom prst="rect">
            <a:avLst/>
          </a:prstGeom>
          <a:noFill/>
        </p:spPr>
        <p:txBody>
          <a:bodyPr wrap="square" lIns="0" tIns="0" rIns="0" bIns="0" anchor="ctr">
            <a:spAutoFit/>
          </a:bodyPr>
          <a:lstStyle/>
          <a:p>
            <a:pPr algn="l"/>
            <a:r>
              <a:rPr sz="1200" b="1" i="0">
                <a:solidFill>
                  <a:srgbClr val="1863DC"/>
                </a:solidFill>
                <a:latin typeface="Arial"/>
              </a:rPr>
              <a:t>End of week 1: </a:t>
            </a:r>
            <a:r>
              <a:rPr sz="1300" b="0" i="1">
                <a:solidFill>
                  <a:srgbClr val="062A4B"/>
                </a:solidFill>
                <a:latin typeface="Arial"/>
              </a:rPr>
              <a:t>we hadn't shipped a line of React  —  and we'd never been more ready to.</a:t>
            </a:r>
          </a:p>
        </p:txBody>
      </p:sp>
      <p:sp>
        <p:nvSpPr>
          <p:cNvPr id="42" name="Rectangle 41"/>
          <p:cNvSpPr/>
          <p:nvPr/>
        </p:nvSpPr>
        <p:spPr>
          <a:xfrm>
            <a:off x="0" y="6537960"/>
            <a:ext cx="12192000" cy="3200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65760" y="6565392"/>
            <a:ext cx="2286000" cy="274320"/>
          </a:xfrm>
          <a:prstGeom prst="rect">
            <a:avLst/>
          </a:prstGeom>
          <a:noFill/>
        </p:spPr>
        <p:txBody>
          <a:bodyPr wrap="square" lIns="0" tIns="0" rIns="0" bIns="0" anchor="ctr">
            <a:spAutoFit/>
          </a:bodyPr>
          <a:lstStyle/>
          <a:p>
            <a:pPr algn="l"/>
            <a:r>
              <a:rPr sz="1000" b="0" i="0">
                <a:solidFill>
                  <a:srgbClr val="FFFFFF"/>
                </a:solidFill>
                <a:latin typeface="Arial"/>
              </a:rPr>
              <a:t>Copyright 2026</a:t>
            </a:r>
          </a:p>
        </p:txBody>
      </p:sp>
      <p:sp>
        <p:nvSpPr>
          <p:cNvPr id="44" name="TextBox 43"/>
          <p:cNvSpPr txBox="1"/>
          <p:nvPr/>
        </p:nvSpPr>
        <p:spPr>
          <a:xfrm>
            <a:off x="11430000" y="6565392"/>
            <a:ext cx="548640" cy="274320"/>
          </a:xfrm>
          <a:prstGeom prst="rect">
            <a:avLst/>
          </a:prstGeom>
          <a:noFill/>
        </p:spPr>
        <p:txBody>
          <a:bodyPr wrap="square" lIns="0" tIns="0" rIns="0" bIns="0" anchor="ctr">
            <a:spAutoFit/>
          </a:bodyPr>
          <a:lstStyle/>
          <a:p>
            <a:pPr algn="r"/>
            <a:r>
              <a:rPr sz="1000" b="0" i="0">
                <a:solidFill>
                  <a:srgbClr val="FFFFFF"/>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4"/>
          </p:nvPr>
        </p:nvSpPr>
        <p:spPr/>
        <p:txBody>
          <a:bodyPr/>
          <a:lstStyle/>
          <a:p>
            <a:endParaRPr/>
          </a:p>
        </p:txBody>
      </p:sp>
      <p:sp>
        <p:nvSpPr>
          <p:cNvPr id="5" name="Text Placeholder 4"/>
          <p:cNvSpPr>
            <a:spLocks noGrp="1"/>
          </p:cNvSpPr>
          <p:nvPr>
            <p:ph type="body" sz="quarter" idx="15"/>
          </p:nvPr>
        </p:nvSpPr>
        <p:spPr/>
        <p:txBody>
          <a:bodyPr/>
          <a:lstStyle/>
          <a:p>
            <a:endParaRPr/>
          </a:p>
        </p:txBody>
      </p:sp>
      <p:sp>
        <p:nvSpPr>
          <p:cNvPr id="6" name="Rectangle 5"/>
          <p:cNvSpPr/>
          <p:nvPr/>
        </p:nvSpPr>
        <p:spPr>
          <a:xfrm>
            <a:off x="0" y="276606"/>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915394" y="0"/>
            <a:ext cx="276606" cy="276606"/>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362182" y="0"/>
            <a:ext cx="553212" cy="276606"/>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362182" y="276606"/>
            <a:ext cx="276606" cy="276606"/>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085576" y="276606"/>
            <a:ext cx="276606" cy="276606"/>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11480"/>
            <a:ext cx="7315200" cy="292608"/>
          </a:xfrm>
          <a:prstGeom prst="rect">
            <a:avLst/>
          </a:prstGeom>
          <a:noFill/>
        </p:spPr>
        <p:txBody>
          <a:bodyPr wrap="square" lIns="0" tIns="0" rIns="0" bIns="0" anchor="t">
            <a:spAutoFit/>
          </a:bodyPr>
          <a:lstStyle/>
          <a:p>
            <a:pPr algn="l"/>
            <a:r>
              <a:rPr sz="1100" b="1" i="0" spc="800">
                <a:solidFill>
                  <a:srgbClr val="1863DC"/>
                </a:solidFill>
                <a:latin typeface="Arial"/>
              </a:rPr>
              <a:t>PROCEDURE  ·  PHASE 2 &amp; 3</a:t>
            </a:r>
          </a:p>
        </p:txBody>
      </p:sp>
      <p:sp>
        <p:nvSpPr>
          <p:cNvPr id="12" name="TextBox 11"/>
          <p:cNvSpPr txBox="1"/>
          <p:nvPr/>
        </p:nvSpPr>
        <p:spPr>
          <a:xfrm>
            <a:off x="548640" y="713232"/>
            <a:ext cx="10972800" cy="868680"/>
          </a:xfrm>
          <a:prstGeom prst="rect">
            <a:avLst/>
          </a:prstGeom>
          <a:noFill/>
        </p:spPr>
        <p:txBody>
          <a:bodyPr wrap="square" lIns="0" tIns="0" rIns="0" bIns="0" anchor="t">
            <a:spAutoFit/>
          </a:bodyPr>
          <a:lstStyle/>
          <a:p>
            <a:pPr algn="l"/>
            <a:r>
              <a:rPr sz="3600" b="1" i="0">
                <a:solidFill>
                  <a:srgbClr val="062A4B"/>
                </a:solidFill>
                <a:latin typeface="Arial"/>
              </a:rPr>
              <a:t>Finding Our Rhythm: Screen by Screen</a:t>
            </a:r>
          </a:p>
        </p:txBody>
      </p:sp>
      <p:sp>
        <p:nvSpPr>
          <p:cNvPr id="13" name="TextBox 12"/>
          <p:cNvSpPr txBox="1"/>
          <p:nvPr/>
        </p:nvSpPr>
        <p:spPr>
          <a:xfrm>
            <a:off x="548640" y="1691640"/>
            <a:ext cx="10972800" cy="200055"/>
          </a:xfrm>
          <a:prstGeom prst="rect">
            <a:avLst/>
          </a:prstGeom>
          <a:noFill/>
        </p:spPr>
        <p:txBody>
          <a:bodyPr wrap="square" lIns="0" tIns="0" rIns="0" bIns="0" anchor="t">
            <a:spAutoFit/>
          </a:bodyPr>
          <a:lstStyle/>
          <a:p>
            <a:pPr algn="l"/>
            <a:r>
              <a:rPr sz="1300" b="0" i="0">
                <a:solidFill>
                  <a:srgbClr val="8E98B1"/>
                </a:solidFill>
                <a:latin typeface="Arial"/>
              </a:rPr>
              <a:t>Our first approach didn't scale</a:t>
            </a:r>
            <a:r>
              <a:rPr lang="en-US" sz="1300" b="0" i="0">
                <a:solidFill>
                  <a:srgbClr val="8E98B1"/>
                </a:solidFill>
                <a:latin typeface="Arial"/>
              </a:rPr>
              <a:t>,</a:t>
            </a:r>
            <a:r>
              <a:rPr sz="1300" b="0" i="0">
                <a:solidFill>
                  <a:srgbClr val="8E98B1"/>
                </a:solidFill>
                <a:latin typeface="Arial"/>
              </a:rPr>
              <a:t> so we pivoted. One screen at a time, one owner, one reviewer.</a:t>
            </a:r>
          </a:p>
        </p:txBody>
      </p:sp>
      <p:sp>
        <p:nvSpPr>
          <p:cNvPr id="14" name="Rectangle 13"/>
          <p:cNvSpPr/>
          <p:nvPr/>
        </p:nvSpPr>
        <p:spPr>
          <a:xfrm>
            <a:off x="548640" y="2240280"/>
            <a:ext cx="1920240" cy="292608"/>
          </a:xfrm>
          <a:prstGeom prst="rect">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240280"/>
            <a:ext cx="1920240" cy="292608"/>
          </a:xfrm>
          <a:prstGeom prst="rect">
            <a:avLst/>
          </a:prstGeom>
          <a:noFill/>
        </p:spPr>
        <p:txBody>
          <a:bodyPr wrap="square" lIns="0" tIns="0" rIns="0" bIns="0" anchor="ctr">
            <a:spAutoFit/>
          </a:bodyPr>
          <a:lstStyle/>
          <a:p>
            <a:pPr algn="ctr"/>
            <a:r>
              <a:rPr sz="1000" b="1" i="0" spc="300">
                <a:solidFill>
                  <a:srgbClr val="FFFFFF"/>
                </a:solidFill>
                <a:latin typeface="Arial"/>
              </a:rPr>
              <a:t>★  THE PIVOT</a:t>
            </a:r>
          </a:p>
        </p:txBody>
      </p:sp>
      <p:sp>
        <p:nvSpPr>
          <p:cNvPr id="16" name="Rounded Rectangle 15"/>
          <p:cNvSpPr/>
          <p:nvPr/>
        </p:nvSpPr>
        <p:spPr>
          <a:xfrm>
            <a:off x="548640" y="2606040"/>
            <a:ext cx="5349240" cy="1051560"/>
          </a:xfrm>
          <a:prstGeom prst="roundRect">
            <a:avLst>
              <a:gd name="adj" fmla="val 8000"/>
            </a:avLst>
          </a:prstGeom>
          <a:solidFill>
            <a:srgbClr val="E2E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770632"/>
            <a:ext cx="548640" cy="365760"/>
          </a:xfrm>
          <a:prstGeom prst="rect">
            <a:avLst/>
          </a:prstGeom>
          <a:noFill/>
        </p:spPr>
        <p:txBody>
          <a:bodyPr wrap="square" lIns="0" tIns="0" rIns="0" bIns="0" anchor="ctr">
            <a:spAutoFit/>
          </a:bodyPr>
          <a:lstStyle/>
          <a:p>
            <a:pPr algn="ctr"/>
            <a:r>
              <a:rPr sz="3400" b="1" i="0">
                <a:solidFill>
                  <a:srgbClr val="DEC4F8"/>
                </a:solidFill>
                <a:latin typeface="Arial"/>
              </a:rPr>
              <a:t>×</a:t>
            </a:r>
          </a:p>
        </p:txBody>
      </p:sp>
      <p:sp>
        <p:nvSpPr>
          <p:cNvPr id="18" name="TextBox 17"/>
          <p:cNvSpPr txBox="1"/>
          <p:nvPr/>
        </p:nvSpPr>
        <p:spPr>
          <a:xfrm>
            <a:off x="1417320" y="2724912"/>
            <a:ext cx="4389120" cy="868680"/>
          </a:xfrm>
          <a:prstGeom prst="rect">
            <a:avLst/>
          </a:prstGeom>
          <a:noFill/>
        </p:spPr>
        <p:txBody>
          <a:bodyPr wrap="square" lIns="0" tIns="0" rIns="0" bIns="0" anchor="ctr">
            <a:spAutoFit/>
          </a:bodyPr>
          <a:lstStyle/>
          <a:p>
            <a:pPr algn="l"/>
            <a:r>
              <a:rPr sz="1000" b="1" i="0">
                <a:solidFill>
                  <a:srgbClr val="8E98B1"/>
                </a:solidFill>
                <a:latin typeface="Arial"/>
              </a:rPr>
              <a:t>BEFORE</a:t>
            </a:r>
          </a:p>
          <a:p>
            <a:pPr algn="l"/>
            <a:r>
              <a:rPr sz="1800" b="1" i="0">
                <a:solidFill>
                  <a:srgbClr val="062A4B"/>
                </a:solidFill>
                <a:latin typeface="Arial"/>
              </a:rPr>
              <a:t>All screens at once</a:t>
            </a:r>
          </a:p>
          <a:p>
            <a:pPr algn="l"/>
            <a:r>
              <a:rPr sz="1100" b="0" i="1">
                <a:solidFill>
                  <a:srgbClr val="8E98B1"/>
                </a:solidFill>
                <a:latin typeface="Arial"/>
              </a:rPr>
              <a:t>Merge conflicts, hard to review, blocked work</a:t>
            </a:r>
          </a:p>
        </p:txBody>
      </p:sp>
      <p:sp>
        <p:nvSpPr>
          <p:cNvPr id="19" name="TextBox 18"/>
          <p:cNvSpPr txBox="1"/>
          <p:nvPr/>
        </p:nvSpPr>
        <p:spPr>
          <a:xfrm>
            <a:off x="5961888" y="2926080"/>
            <a:ext cx="365760" cy="457200"/>
          </a:xfrm>
          <a:prstGeom prst="rect">
            <a:avLst/>
          </a:prstGeom>
          <a:noFill/>
        </p:spPr>
        <p:txBody>
          <a:bodyPr wrap="square" lIns="0" tIns="0" rIns="0" bIns="0" anchor="ctr">
            <a:spAutoFit/>
          </a:bodyPr>
          <a:lstStyle/>
          <a:p>
            <a:pPr algn="ctr"/>
            <a:r>
              <a:rPr sz="2800" b="1" i="0">
                <a:solidFill>
                  <a:srgbClr val="1863DC"/>
                </a:solidFill>
                <a:latin typeface="Arial"/>
              </a:rPr>
              <a:t>→</a:t>
            </a:r>
          </a:p>
        </p:txBody>
      </p:sp>
      <p:sp>
        <p:nvSpPr>
          <p:cNvPr id="20" name="Rounded Rectangle 19"/>
          <p:cNvSpPr/>
          <p:nvPr/>
        </p:nvSpPr>
        <p:spPr>
          <a:xfrm>
            <a:off x="6446520" y="2606040"/>
            <a:ext cx="5349240" cy="1051560"/>
          </a:xfrm>
          <a:prstGeom prst="roundRect">
            <a:avLst>
              <a:gd name="adj" fmla="val 8000"/>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75120" y="2770632"/>
            <a:ext cx="548640" cy="365760"/>
          </a:xfrm>
          <a:prstGeom prst="rect">
            <a:avLst/>
          </a:prstGeom>
          <a:noFill/>
        </p:spPr>
        <p:txBody>
          <a:bodyPr wrap="square" lIns="0" tIns="0" rIns="0" bIns="0" anchor="ctr">
            <a:spAutoFit/>
          </a:bodyPr>
          <a:lstStyle/>
          <a:p>
            <a:pPr algn="ctr"/>
            <a:r>
              <a:rPr sz="3400" b="1" i="0">
                <a:solidFill>
                  <a:srgbClr val="062A4B"/>
                </a:solidFill>
                <a:latin typeface="Arial"/>
              </a:rPr>
              <a:t>✓</a:t>
            </a:r>
          </a:p>
        </p:txBody>
      </p:sp>
      <p:sp>
        <p:nvSpPr>
          <p:cNvPr id="22" name="TextBox 21"/>
          <p:cNvSpPr txBox="1"/>
          <p:nvPr/>
        </p:nvSpPr>
        <p:spPr>
          <a:xfrm>
            <a:off x="7315200" y="2724912"/>
            <a:ext cx="4389120" cy="868680"/>
          </a:xfrm>
          <a:prstGeom prst="rect">
            <a:avLst/>
          </a:prstGeom>
          <a:noFill/>
        </p:spPr>
        <p:txBody>
          <a:bodyPr wrap="square" lIns="0" tIns="0" rIns="0" bIns="0" anchor="ctr">
            <a:spAutoFit/>
          </a:bodyPr>
          <a:lstStyle/>
          <a:p>
            <a:pPr algn="l"/>
            <a:r>
              <a:rPr sz="1000" b="1" i="0">
                <a:solidFill>
                  <a:srgbClr val="062A4B"/>
                </a:solidFill>
                <a:latin typeface="Arial"/>
              </a:rPr>
              <a:t>NOW</a:t>
            </a:r>
          </a:p>
          <a:p>
            <a:pPr algn="l"/>
            <a:r>
              <a:rPr sz="1800" b="1" i="0">
                <a:solidFill>
                  <a:srgbClr val="062A4B"/>
                </a:solidFill>
                <a:latin typeface="Arial"/>
              </a:rPr>
              <a:t>One screen at a time</a:t>
            </a:r>
          </a:p>
          <a:p>
            <a:pPr algn="l"/>
            <a:r>
              <a:rPr sz="1100" b="0" i="1">
                <a:solidFill>
                  <a:srgbClr val="062A4B"/>
                </a:solidFill>
                <a:latin typeface="Arial"/>
              </a:rPr>
              <a:t>One owner + one reviewer · clean PRs</a:t>
            </a:r>
          </a:p>
        </p:txBody>
      </p:sp>
      <p:sp>
        <p:nvSpPr>
          <p:cNvPr id="23" name="Rectangle 22"/>
          <p:cNvSpPr/>
          <p:nvPr/>
        </p:nvSpPr>
        <p:spPr>
          <a:xfrm>
            <a:off x="585216" y="4023360"/>
            <a:ext cx="1507453" cy="77724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114800"/>
            <a:ext cx="1580605" cy="256032"/>
          </a:xfrm>
          <a:prstGeom prst="rect">
            <a:avLst/>
          </a:prstGeom>
          <a:noFill/>
        </p:spPr>
        <p:txBody>
          <a:bodyPr wrap="square" lIns="0" tIns="0" rIns="0" bIns="0" anchor="t">
            <a:spAutoFit/>
          </a:bodyPr>
          <a:lstStyle/>
          <a:p>
            <a:pPr algn="ctr"/>
            <a:r>
              <a:rPr sz="1000" b="1" i="0" spc="400">
                <a:solidFill>
                  <a:srgbClr val="062A4B"/>
                </a:solidFill>
                <a:latin typeface="Arial"/>
              </a:rPr>
              <a:t>01</a:t>
            </a:r>
          </a:p>
        </p:txBody>
      </p:sp>
      <p:sp>
        <p:nvSpPr>
          <p:cNvPr id="25" name="TextBox 24"/>
          <p:cNvSpPr txBox="1"/>
          <p:nvPr/>
        </p:nvSpPr>
        <p:spPr>
          <a:xfrm>
            <a:off x="548640" y="4343400"/>
            <a:ext cx="1580605" cy="457200"/>
          </a:xfrm>
          <a:prstGeom prst="rect">
            <a:avLst/>
          </a:prstGeom>
          <a:noFill/>
        </p:spPr>
        <p:txBody>
          <a:bodyPr wrap="square" lIns="0" tIns="0" rIns="0" bIns="0" anchor="ctr">
            <a:spAutoFit/>
          </a:bodyPr>
          <a:lstStyle/>
          <a:p>
            <a:pPr algn="ctr"/>
            <a:r>
              <a:rPr sz="1600" b="1" i="0">
                <a:solidFill>
                  <a:srgbClr val="062A4B"/>
                </a:solidFill>
                <a:latin typeface="Arial"/>
              </a:rPr>
              <a:t>Specs</a:t>
            </a:r>
          </a:p>
        </p:txBody>
      </p:sp>
      <p:sp>
        <p:nvSpPr>
          <p:cNvPr id="26" name="TextBox 25"/>
          <p:cNvSpPr txBox="1"/>
          <p:nvPr/>
        </p:nvSpPr>
        <p:spPr>
          <a:xfrm>
            <a:off x="594360" y="4937760"/>
            <a:ext cx="1489165" cy="868680"/>
          </a:xfrm>
          <a:prstGeom prst="rect">
            <a:avLst/>
          </a:prstGeom>
          <a:noFill/>
        </p:spPr>
        <p:txBody>
          <a:bodyPr wrap="square" lIns="0" tIns="0" rIns="0" bIns="0" anchor="t">
            <a:spAutoFit/>
          </a:bodyPr>
          <a:lstStyle/>
          <a:p>
            <a:pPr algn="ctr"/>
            <a:r>
              <a:rPr sz="950" b="0" i="0">
                <a:solidFill>
                  <a:srgbClr val="8E98B1"/>
                </a:solidFill>
                <a:latin typeface="Arial"/>
              </a:rPr>
              <a:t>AI extracts specs from Ember</a:t>
            </a:r>
          </a:p>
        </p:txBody>
      </p:sp>
      <p:sp>
        <p:nvSpPr>
          <p:cNvPr id="27" name="Rectangle 26"/>
          <p:cNvSpPr/>
          <p:nvPr/>
        </p:nvSpPr>
        <p:spPr>
          <a:xfrm>
            <a:off x="2165821" y="4023360"/>
            <a:ext cx="1507453" cy="77724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129245" y="4114800"/>
            <a:ext cx="1580605" cy="256032"/>
          </a:xfrm>
          <a:prstGeom prst="rect">
            <a:avLst/>
          </a:prstGeom>
          <a:noFill/>
        </p:spPr>
        <p:txBody>
          <a:bodyPr wrap="square" lIns="0" tIns="0" rIns="0" bIns="0" anchor="t">
            <a:spAutoFit/>
          </a:bodyPr>
          <a:lstStyle/>
          <a:p>
            <a:pPr algn="ctr"/>
            <a:r>
              <a:rPr sz="1000" b="1" i="0" spc="400">
                <a:solidFill>
                  <a:srgbClr val="062A4B"/>
                </a:solidFill>
                <a:latin typeface="Arial"/>
              </a:rPr>
              <a:t>02</a:t>
            </a:r>
          </a:p>
        </p:txBody>
      </p:sp>
      <p:sp>
        <p:nvSpPr>
          <p:cNvPr id="29" name="TextBox 28"/>
          <p:cNvSpPr txBox="1"/>
          <p:nvPr/>
        </p:nvSpPr>
        <p:spPr>
          <a:xfrm>
            <a:off x="2129245" y="4343400"/>
            <a:ext cx="1580605" cy="457200"/>
          </a:xfrm>
          <a:prstGeom prst="rect">
            <a:avLst/>
          </a:prstGeom>
          <a:noFill/>
        </p:spPr>
        <p:txBody>
          <a:bodyPr wrap="square" lIns="0" tIns="0" rIns="0" bIns="0" anchor="ctr">
            <a:spAutoFit/>
          </a:bodyPr>
          <a:lstStyle/>
          <a:p>
            <a:pPr algn="ctr"/>
            <a:r>
              <a:rPr sz="1600" b="1" i="0">
                <a:solidFill>
                  <a:srgbClr val="062A4B"/>
                </a:solidFill>
                <a:latin typeface="Arial"/>
              </a:rPr>
              <a:t>Code</a:t>
            </a:r>
          </a:p>
        </p:txBody>
      </p:sp>
      <p:sp>
        <p:nvSpPr>
          <p:cNvPr id="30" name="TextBox 29"/>
          <p:cNvSpPr txBox="1"/>
          <p:nvPr/>
        </p:nvSpPr>
        <p:spPr>
          <a:xfrm>
            <a:off x="2174965" y="4937760"/>
            <a:ext cx="1489165" cy="868680"/>
          </a:xfrm>
          <a:prstGeom prst="rect">
            <a:avLst/>
          </a:prstGeom>
          <a:noFill/>
        </p:spPr>
        <p:txBody>
          <a:bodyPr wrap="square" lIns="0" tIns="0" rIns="0" bIns="0" anchor="t">
            <a:spAutoFit/>
          </a:bodyPr>
          <a:lstStyle/>
          <a:p>
            <a:pPr algn="ctr"/>
            <a:r>
              <a:rPr sz="950" b="0" i="0">
                <a:solidFill>
                  <a:srgbClr val="8E98B1"/>
                </a:solidFill>
                <a:latin typeface="Arial"/>
              </a:rPr>
              <a:t>AI generates React component</a:t>
            </a:r>
          </a:p>
        </p:txBody>
      </p:sp>
      <p:sp>
        <p:nvSpPr>
          <p:cNvPr id="31" name="Rectangle 30"/>
          <p:cNvSpPr/>
          <p:nvPr/>
        </p:nvSpPr>
        <p:spPr>
          <a:xfrm>
            <a:off x="3746426" y="4023360"/>
            <a:ext cx="1507453" cy="7772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09850" y="4114800"/>
            <a:ext cx="1580605" cy="256032"/>
          </a:xfrm>
          <a:prstGeom prst="rect">
            <a:avLst/>
          </a:prstGeom>
          <a:noFill/>
        </p:spPr>
        <p:txBody>
          <a:bodyPr wrap="square" lIns="0" tIns="0" rIns="0" bIns="0" anchor="t">
            <a:spAutoFit/>
          </a:bodyPr>
          <a:lstStyle/>
          <a:p>
            <a:pPr algn="ctr"/>
            <a:r>
              <a:rPr sz="1000" b="1" i="0" spc="400">
                <a:solidFill>
                  <a:srgbClr val="FFFFFF"/>
                </a:solidFill>
                <a:latin typeface="Arial"/>
              </a:rPr>
              <a:t>03</a:t>
            </a:r>
          </a:p>
        </p:txBody>
      </p:sp>
      <p:sp>
        <p:nvSpPr>
          <p:cNvPr id="33" name="TextBox 32"/>
          <p:cNvSpPr txBox="1"/>
          <p:nvPr/>
        </p:nvSpPr>
        <p:spPr>
          <a:xfrm>
            <a:off x="3709850" y="4343400"/>
            <a:ext cx="1580605" cy="457200"/>
          </a:xfrm>
          <a:prstGeom prst="rect">
            <a:avLst/>
          </a:prstGeom>
          <a:noFill/>
        </p:spPr>
        <p:txBody>
          <a:bodyPr wrap="square" lIns="0" tIns="0" rIns="0" bIns="0" anchor="ctr">
            <a:spAutoFit/>
          </a:bodyPr>
          <a:lstStyle/>
          <a:p>
            <a:pPr algn="ctr"/>
            <a:r>
              <a:rPr sz="1600" b="1" i="0">
                <a:solidFill>
                  <a:srgbClr val="FFFFFF"/>
                </a:solidFill>
                <a:latin typeface="Arial"/>
              </a:rPr>
              <a:t>Review</a:t>
            </a:r>
          </a:p>
        </p:txBody>
      </p:sp>
      <p:sp>
        <p:nvSpPr>
          <p:cNvPr id="34" name="TextBox 33"/>
          <p:cNvSpPr txBox="1"/>
          <p:nvPr/>
        </p:nvSpPr>
        <p:spPr>
          <a:xfrm>
            <a:off x="3755570" y="4937760"/>
            <a:ext cx="1489165" cy="868680"/>
          </a:xfrm>
          <a:prstGeom prst="rect">
            <a:avLst/>
          </a:prstGeom>
          <a:noFill/>
        </p:spPr>
        <p:txBody>
          <a:bodyPr wrap="square" lIns="0" tIns="0" rIns="0" bIns="0" anchor="t">
            <a:spAutoFit/>
          </a:bodyPr>
          <a:lstStyle/>
          <a:p>
            <a:pPr algn="ctr"/>
            <a:r>
              <a:rPr sz="950" b="0" i="0">
                <a:solidFill>
                  <a:srgbClr val="8E98B1"/>
                </a:solidFill>
                <a:latin typeface="Arial"/>
              </a:rPr>
              <a:t>Owner reads &amp; cleans up</a:t>
            </a:r>
          </a:p>
        </p:txBody>
      </p:sp>
      <p:sp>
        <p:nvSpPr>
          <p:cNvPr id="35" name="Rectangle 34"/>
          <p:cNvSpPr/>
          <p:nvPr/>
        </p:nvSpPr>
        <p:spPr>
          <a:xfrm>
            <a:off x="5327031" y="4023360"/>
            <a:ext cx="1507453" cy="7772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90455" y="4114800"/>
            <a:ext cx="1580605" cy="256032"/>
          </a:xfrm>
          <a:prstGeom prst="rect">
            <a:avLst/>
          </a:prstGeom>
          <a:noFill/>
        </p:spPr>
        <p:txBody>
          <a:bodyPr wrap="square" lIns="0" tIns="0" rIns="0" bIns="0" anchor="t">
            <a:spAutoFit/>
          </a:bodyPr>
          <a:lstStyle/>
          <a:p>
            <a:pPr algn="ctr"/>
            <a:r>
              <a:rPr sz="1000" b="1" i="0" spc="400">
                <a:solidFill>
                  <a:srgbClr val="FFFFFF"/>
                </a:solidFill>
                <a:latin typeface="Arial"/>
              </a:rPr>
              <a:t>04</a:t>
            </a:r>
          </a:p>
        </p:txBody>
      </p:sp>
      <p:sp>
        <p:nvSpPr>
          <p:cNvPr id="37" name="TextBox 36"/>
          <p:cNvSpPr txBox="1"/>
          <p:nvPr/>
        </p:nvSpPr>
        <p:spPr>
          <a:xfrm>
            <a:off x="5290455" y="4343400"/>
            <a:ext cx="1580605" cy="457200"/>
          </a:xfrm>
          <a:prstGeom prst="rect">
            <a:avLst/>
          </a:prstGeom>
          <a:noFill/>
        </p:spPr>
        <p:txBody>
          <a:bodyPr wrap="square" lIns="0" tIns="0" rIns="0" bIns="0" anchor="ctr">
            <a:spAutoFit/>
          </a:bodyPr>
          <a:lstStyle/>
          <a:p>
            <a:pPr algn="ctr"/>
            <a:r>
              <a:rPr sz="1600" b="1" i="0">
                <a:solidFill>
                  <a:srgbClr val="FFFFFF"/>
                </a:solidFill>
                <a:latin typeface="Arial"/>
              </a:rPr>
              <a:t>Test</a:t>
            </a:r>
          </a:p>
        </p:txBody>
      </p:sp>
      <p:sp>
        <p:nvSpPr>
          <p:cNvPr id="38" name="TextBox 37"/>
          <p:cNvSpPr txBox="1"/>
          <p:nvPr/>
        </p:nvSpPr>
        <p:spPr>
          <a:xfrm>
            <a:off x="5336175" y="4937760"/>
            <a:ext cx="1489165" cy="868680"/>
          </a:xfrm>
          <a:prstGeom prst="rect">
            <a:avLst/>
          </a:prstGeom>
          <a:noFill/>
        </p:spPr>
        <p:txBody>
          <a:bodyPr wrap="square" lIns="0" tIns="0" rIns="0" bIns="0" anchor="t">
            <a:spAutoFit/>
          </a:bodyPr>
          <a:lstStyle/>
          <a:p>
            <a:pPr algn="ctr"/>
            <a:r>
              <a:rPr sz="950" b="0" i="0">
                <a:solidFill>
                  <a:srgbClr val="8E98B1"/>
                </a:solidFill>
                <a:latin typeface="Arial"/>
              </a:rPr>
              <a:t>Run locally · parity check</a:t>
            </a:r>
          </a:p>
        </p:txBody>
      </p:sp>
      <p:sp>
        <p:nvSpPr>
          <p:cNvPr id="39" name="Rectangle 38"/>
          <p:cNvSpPr/>
          <p:nvPr/>
        </p:nvSpPr>
        <p:spPr>
          <a:xfrm>
            <a:off x="6907636" y="4023360"/>
            <a:ext cx="1507453" cy="7772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71060" y="4114800"/>
            <a:ext cx="1580605" cy="256032"/>
          </a:xfrm>
          <a:prstGeom prst="rect">
            <a:avLst/>
          </a:prstGeom>
          <a:noFill/>
        </p:spPr>
        <p:txBody>
          <a:bodyPr wrap="square" lIns="0" tIns="0" rIns="0" bIns="0" anchor="t">
            <a:spAutoFit/>
          </a:bodyPr>
          <a:lstStyle/>
          <a:p>
            <a:pPr algn="ctr"/>
            <a:r>
              <a:rPr sz="1000" b="1" i="0" spc="400">
                <a:solidFill>
                  <a:srgbClr val="FFFFFF"/>
                </a:solidFill>
                <a:latin typeface="Arial"/>
              </a:rPr>
              <a:t>05</a:t>
            </a:r>
          </a:p>
        </p:txBody>
      </p:sp>
      <p:sp>
        <p:nvSpPr>
          <p:cNvPr id="41" name="TextBox 40"/>
          <p:cNvSpPr txBox="1"/>
          <p:nvPr/>
        </p:nvSpPr>
        <p:spPr>
          <a:xfrm>
            <a:off x="6871060" y="4343400"/>
            <a:ext cx="1580605" cy="457200"/>
          </a:xfrm>
          <a:prstGeom prst="rect">
            <a:avLst/>
          </a:prstGeom>
          <a:noFill/>
        </p:spPr>
        <p:txBody>
          <a:bodyPr wrap="square" lIns="0" tIns="0" rIns="0" bIns="0" anchor="ctr">
            <a:spAutoFit/>
          </a:bodyPr>
          <a:lstStyle/>
          <a:p>
            <a:pPr algn="ctr"/>
            <a:r>
              <a:rPr sz="1600" b="1" i="0">
                <a:solidFill>
                  <a:srgbClr val="FFFFFF"/>
                </a:solidFill>
                <a:latin typeface="Arial"/>
              </a:rPr>
              <a:t>PR</a:t>
            </a:r>
          </a:p>
        </p:txBody>
      </p:sp>
      <p:sp>
        <p:nvSpPr>
          <p:cNvPr id="42" name="TextBox 41"/>
          <p:cNvSpPr txBox="1"/>
          <p:nvPr/>
        </p:nvSpPr>
        <p:spPr>
          <a:xfrm>
            <a:off x="6916780" y="4937760"/>
            <a:ext cx="1489165" cy="868680"/>
          </a:xfrm>
          <a:prstGeom prst="rect">
            <a:avLst/>
          </a:prstGeom>
          <a:noFill/>
        </p:spPr>
        <p:txBody>
          <a:bodyPr wrap="square" lIns="0" tIns="0" rIns="0" bIns="0" anchor="t">
            <a:spAutoFit/>
          </a:bodyPr>
          <a:lstStyle/>
          <a:p>
            <a:pPr algn="ctr"/>
            <a:r>
              <a:rPr sz="950" b="0" i="0">
                <a:solidFill>
                  <a:srgbClr val="8E98B1"/>
                </a:solidFill>
                <a:latin typeface="Arial"/>
              </a:rPr>
              <a:t>Open pull request</a:t>
            </a:r>
          </a:p>
        </p:txBody>
      </p:sp>
      <p:sp>
        <p:nvSpPr>
          <p:cNvPr id="43" name="Rectangle 42"/>
          <p:cNvSpPr/>
          <p:nvPr/>
        </p:nvSpPr>
        <p:spPr>
          <a:xfrm>
            <a:off x="8488241" y="4023360"/>
            <a:ext cx="1507453" cy="7772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51665" y="4114800"/>
            <a:ext cx="1580605" cy="256032"/>
          </a:xfrm>
          <a:prstGeom prst="rect">
            <a:avLst/>
          </a:prstGeom>
          <a:noFill/>
        </p:spPr>
        <p:txBody>
          <a:bodyPr wrap="square" lIns="0" tIns="0" rIns="0" bIns="0" anchor="t">
            <a:spAutoFit/>
          </a:bodyPr>
          <a:lstStyle/>
          <a:p>
            <a:pPr algn="ctr"/>
            <a:r>
              <a:rPr sz="1000" b="1" i="0" spc="400">
                <a:solidFill>
                  <a:srgbClr val="FFFFFF"/>
                </a:solidFill>
                <a:latin typeface="Arial"/>
              </a:rPr>
              <a:t>06</a:t>
            </a:r>
          </a:p>
        </p:txBody>
      </p:sp>
      <p:sp>
        <p:nvSpPr>
          <p:cNvPr id="45" name="TextBox 44"/>
          <p:cNvSpPr txBox="1"/>
          <p:nvPr/>
        </p:nvSpPr>
        <p:spPr>
          <a:xfrm>
            <a:off x="8451665" y="4343400"/>
            <a:ext cx="1580605" cy="457200"/>
          </a:xfrm>
          <a:prstGeom prst="rect">
            <a:avLst/>
          </a:prstGeom>
          <a:noFill/>
        </p:spPr>
        <p:txBody>
          <a:bodyPr wrap="square" lIns="0" tIns="0" rIns="0" bIns="0" anchor="ctr">
            <a:spAutoFit/>
          </a:bodyPr>
          <a:lstStyle/>
          <a:p>
            <a:pPr algn="ctr"/>
            <a:r>
              <a:rPr sz="1600" b="1" i="0">
                <a:solidFill>
                  <a:srgbClr val="FFFFFF"/>
                </a:solidFill>
                <a:latin typeface="Arial"/>
              </a:rPr>
              <a:t>QA</a:t>
            </a:r>
          </a:p>
        </p:txBody>
      </p:sp>
      <p:sp>
        <p:nvSpPr>
          <p:cNvPr id="46" name="TextBox 45"/>
          <p:cNvSpPr txBox="1"/>
          <p:nvPr/>
        </p:nvSpPr>
        <p:spPr>
          <a:xfrm>
            <a:off x="8497385" y="4937760"/>
            <a:ext cx="1489165" cy="146194"/>
          </a:xfrm>
          <a:prstGeom prst="rect">
            <a:avLst/>
          </a:prstGeom>
          <a:noFill/>
        </p:spPr>
        <p:txBody>
          <a:bodyPr wrap="square" lIns="0" tIns="0" rIns="0" bIns="0" anchor="t">
            <a:spAutoFit/>
          </a:bodyPr>
          <a:lstStyle/>
          <a:p>
            <a:pPr algn="ctr"/>
            <a:r>
              <a:rPr sz="950" b="0" i="0">
                <a:solidFill>
                  <a:srgbClr val="8E98B1"/>
                </a:solidFill>
                <a:latin typeface="Arial"/>
              </a:rPr>
              <a:t>Monkey</a:t>
            </a:r>
            <a:r>
              <a:rPr lang="en-US" sz="950" b="0" i="0">
                <a:solidFill>
                  <a:srgbClr val="8E98B1"/>
                </a:solidFill>
                <a:latin typeface="Arial"/>
              </a:rPr>
              <a:t> jumping</a:t>
            </a:r>
            <a:r>
              <a:rPr sz="950" b="0" i="0">
                <a:solidFill>
                  <a:srgbClr val="8E98B1"/>
                </a:solidFill>
                <a:latin typeface="Arial"/>
              </a:rPr>
              <a:t> test </a:t>
            </a:r>
          </a:p>
        </p:txBody>
      </p:sp>
      <p:sp>
        <p:nvSpPr>
          <p:cNvPr id="47" name="Rectangle 46"/>
          <p:cNvSpPr/>
          <p:nvPr/>
        </p:nvSpPr>
        <p:spPr>
          <a:xfrm>
            <a:off x="10068846" y="4023360"/>
            <a:ext cx="1507453" cy="7772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032270" y="4114800"/>
            <a:ext cx="1580605" cy="256032"/>
          </a:xfrm>
          <a:prstGeom prst="rect">
            <a:avLst/>
          </a:prstGeom>
          <a:noFill/>
        </p:spPr>
        <p:txBody>
          <a:bodyPr wrap="square" lIns="0" tIns="0" rIns="0" bIns="0" anchor="t">
            <a:spAutoFit/>
          </a:bodyPr>
          <a:lstStyle/>
          <a:p>
            <a:pPr algn="ctr"/>
            <a:r>
              <a:rPr sz="1000" b="1" i="0" spc="400">
                <a:solidFill>
                  <a:srgbClr val="FFFFFF"/>
                </a:solidFill>
                <a:latin typeface="Arial"/>
              </a:rPr>
              <a:t>07</a:t>
            </a:r>
          </a:p>
        </p:txBody>
      </p:sp>
      <p:sp>
        <p:nvSpPr>
          <p:cNvPr id="49" name="TextBox 48"/>
          <p:cNvSpPr txBox="1"/>
          <p:nvPr/>
        </p:nvSpPr>
        <p:spPr>
          <a:xfrm>
            <a:off x="10032270" y="4343400"/>
            <a:ext cx="1580605" cy="457200"/>
          </a:xfrm>
          <a:prstGeom prst="rect">
            <a:avLst/>
          </a:prstGeom>
          <a:noFill/>
        </p:spPr>
        <p:txBody>
          <a:bodyPr wrap="square" lIns="0" tIns="0" rIns="0" bIns="0" anchor="ctr">
            <a:spAutoFit/>
          </a:bodyPr>
          <a:lstStyle/>
          <a:p>
            <a:pPr algn="ctr"/>
            <a:r>
              <a:rPr sz="1600" b="1" i="0">
                <a:solidFill>
                  <a:srgbClr val="FFFFFF"/>
                </a:solidFill>
                <a:latin typeface="Arial"/>
              </a:rPr>
              <a:t>Merge</a:t>
            </a:r>
          </a:p>
        </p:txBody>
      </p:sp>
      <p:sp>
        <p:nvSpPr>
          <p:cNvPr id="50" name="TextBox 49"/>
          <p:cNvSpPr txBox="1"/>
          <p:nvPr/>
        </p:nvSpPr>
        <p:spPr>
          <a:xfrm>
            <a:off x="10077990" y="4937760"/>
            <a:ext cx="1489165" cy="868680"/>
          </a:xfrm>
          <a:prstGeom prst="rect">
            <a:avLst/>
          </a:prstGeom>
          <a:noFill/>
        </p:spPr>
        <p:txBody>
          <a:bodyPr wrap="square" lIns="0" tIns="0" rIns="0" bIns="0" anchor="t">
            <a:spAutoFit/>
          </a:bodyPr>
          <a:lstStyle/>
          <a:p>
            <a:pPr algn="ctr"/>
            <a:r>
              <a:rPr sz="950" b="0" i="0">
                <a:solidFill>
                  <a:srgbClr val="8E98B1"/>
                </a:solidFill>
                <a:latin typeface="Arial"/>
              </a:rPr>
              <a:t>Approved &amp; merged to main</a:t>
            </a:r>
          </a:p>
        </p:txBody>
      </p:sp>
      <p:sp>
        <p:nvSpPr>
          <p:cNvPr id="51" name="TextBox 50"/>
          <p:cNvSpPr txBox="1"/>
          <p:nvPr/>
        </p:nvSpPr>
        <p:spPr>
          <a:xfrm>
            <a:off x="548640" y="5897880"/>
            <a:ext cx="3161210" cy="256032"/>
          </a:xfrm>
          <a:prstGeom prst="rect">
            <a:avLst/>
          </a:prstGeom>
          <a:noFill/>
        </p:spPr>
        <p:txBody>
          <a:bodyPr wrap="square" lIns="0" tIns="0" rIns="0" bIns="0" anchor="t">
            <a:spAutoFit/>
          </a:bodyPr>
          <a:lstStyle/>
          <a:p>
            <a:pPr algn="ctr"/>
            <a:r>
              <a:rPr sz="1000" b="1" i="0" spc="400">
                <a:solidFill>
                  <a:srgbClr val="1863DC"/>
                </a:solidFill>
                <a:latin typeface="Arial"/>
              </a:rPr>
              <a:t>AI - ASSISTED</a:t>
            </a:r>
          </a:p>
        </p:txBody>
      </p:sp>
      <p:sp>
        <p:nvSpPr>
          <p:cNvPr id="52" name="TextBox 51"/>
          <p:cNvSpPr txBox="1"/>
          <p:nvPr/>
        </p:nvSpPr>
        <p:spPr>
          <a:xfrm>
            <a:off x="3709850" y="5897880"/>
            <a:ext cx="7903025" cy="256032"/>
          </a:xfrm>
          <a:prstGeom prst="rect">
            <a:avLst/>
          </a:prstGeom>
          <a:noFill/>
        </p:spPr>
        <p:txBody>
          <a:bodyPr wrap="square" lIns="0" tIns="0" rIns="0" bIns="0" anchor="t">
            <a:spAutoFit/>
          </a:bodyPr>
          <a:lstStyle/>
          <a:p>
            <a:pPr algn="ctr"/>
            <a:r>
              <a:rPr sz="1000" b="1" i="0" spc="400">
                <a:solidFill>
                  <a:srgbClr val="062A4B"/>
                </a:solidFill>
                <a:latin typeface="Arial"/>
              </a:rPr>
              <a:t>HUMAN - LED</a:t>
            </a:r>
          </a:p>
        </p:txBody>
      </p:sp>
      <p:sp>
        <p:nvSpPr>
          <p:cNvPr id="53" name="Rectangle 52"/>
          <p:cNvSpPr/>
          <p:nvPr/>
        </p:nvSpPr>
        <p:spPr>
          <a:xfrm>
            <a:off x="0" y="6537960"/>
            <a:ext cx="12192000" cy="3200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65760" y="6565392"/>
            <a:ext cx="2286000" cy="274320"/>
          </a:xfrm>
          <a:prstGeom prst="rect">
            <a:avLst/>
          </a:prstGeom>
          <a:noFill/>
        </p:spPr>
        <p:txBody>
          <a:bodyPr wrap="square" lIns="0" tIns="0" rIns="0" bIns="0" anchor="ctr">
            <a:spAutoFit/>
          </a:bodyPr>
          <a:lstStyle/>
          <a:p>
            <a:pPr algn="l"/>
            <a:r>
              <a:rPr sz="1000" b="0" i="0">
                <a:solidFill>
                  <a:srgbClr val="FFFFFF"/>
                </a:solidFill>
                <a:latin typeface="Arial"/>
              </a:rPr>
              <a:t>Copyright 2026</a:t>
            </a:r>
          </a:p>
        </p:txBody>
      </p:sp>
      <p:sp>
        <p:nvSpPr>
          <p:cNvPr id="55" name="TextBox 54"/>
          <p:cNvSpPr txBox="1"/>
          <p:nvPr/>
        </p:nvSpPr>
        <p:spPr>
          <a:xfrm>
            <a:off x="11430000" y="6565392"/>
            <a:ext cx="548640" cy="274320"/>
          </a:xfrm>
          <a:prstGeom prst="rect">
            <a:avLst/>
          </a:prstGeom>
          <a:noFill/>
        </p:spPr>
        <p:txBody>
          <a:bodyPr wrap="square" lIns="0" tIns="0" rIns="0" bIns="0" anchor="ctr">
            <a:spAutoFit/>
          </a:bodyPr>
          <a:lstStyle/>
          <a:p>
            <a:pPr algn="r"/>
            <a:r>
              <a:rPr sz="1000" b="0" i="0">
                <a:solidFill>
                  <a:srgbClr val="FFFFFF"/>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4"/>
          </p:nvPr>
        </p:nvSpPr>
        <p:spPr/>
        <p:txBody>
          <a:bodyPr/>
          <a:lstStyle/>
          <a:p>
            <a:endParaRPr/>
          </a:p>
        </p:txBody>
      </p:sp>
      <p:sp>
        <p:nvSpPr>
          <p:cNvPr id="5" name="Text Placeholder 4"/>
          <p:cNvSpPr>
            <a:spLocks noGrp="1"/>
          </p:cNvSpPr>
          <p:nvPr>
            <p:ph type="body" sz="quarter" idx="15"/>
          </p:nvPr>
        </p:nvSpPr>
        <p:spPr/>
        <p:txBody>
          <a:bodyPr/>
          <a:lstStyle/>
          <a:p>
            <a:endParaRPr/>
          </a:p>
        </p:txBody>
      </p:sp>
      <p:sp>
        <p:nvSpPr>
          <p:cNvPr id="6" name="Rectangle 5"/>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638788" y="0"/>
            <a:ext cx="553212" cy="276606"/>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362182" y="0"/>
            <a:ext cx="276606" cy="276606"/>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38788" y="276606"/>
            <a:ext cx="276606" cy="276606"/>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085576" y="276606"/>
            <a:ext cx="276606" cy="276606"/>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11480"/>
            <a:ext cx="7315200" cy="292608"/>
          </a:xfrm>
          <a:prstGeom prst="rect">
            <a:avLst/>
          </a:prstGeom>
          <a:noFill/>
        </p:spPr>
        <p:txBody>
          <a:bodyPr wrap="square" lIns="0" tIns="0" rIns="0" bIns="0" anchor="t">
            <a:spAutoFit/>
          </a:bodyPr>
          <a:lstStyle/>
          <a:p>
            <a:pPr algn="l"/>
            <a:r>
              <a:rPr sz="1100" b="1" i="0" spc="800">
                <a:solidFill>
                  <a:srgbClr val="1863DC"/>
                </a:solidFill>
                <a:latin typeface="Arial"/>
              </a:rPr>
              <a:t>PROCEDURE  ·  PHASE 4</a:t>
            </a:r>
          </a:p>
        </p:txBody>
      </p:sp>
      <p:sp>
        <p:nvSpPr>
          <p:cNvPr id="12" name="TextBox 11"/>
          <p:cNvSpPr txBox="1"/>
          <p:nvPr/>
        </p:nvSpPr>
        <p:spPr>
          <a:xfrm>
            <a:off x="548640" y="713232"/>
            <a:ext cx="10972800" cy="868680"/>
          </a:xfrm>
          <a:prstGeom prst="rect">
            <a:avLst/>
          </a:prstGeom>
          <a:noFill/>
        </p:spPr>
        <p:txBody>
          <a:bodyPr wrap="square" lIns="0" tIns="0" rIns="0" bIns="0" anchor="t">
            <a:spAutoFit/>
          </a:bodyPr>
          <a:lstStyle/>
          <a:p>
            <a:pPr algn="l"/>
            <a:r>
              <a:rPr sz="3600" b="1" i="0">
                <a:solidFill>
                  <a:srgbClr val="062A4B"/>
                </a:solidFill>
                <a:latin typeface="Arial"/>
              </a:rPr>
              <a:t>Sponsor Review &amp; Feedback</a:t>
            </a:r>
          </a:p>
        </p:txBody>
      </p:sp>
      <p:sp>
        <p:nvSpPr>
          <p:cNvPr id="13" name="TextBox 12"/>
          <p:cNvSpPr txBox="1"/>
          <p:nvPr/>
        </p:nvSpPr>
        <p:spPr>
          <a:xfrm>
            <a:off x="548640" y="1691640"/>
            <a:ext cx="10972800" cy="365760"/>
          </a:xfrm>
          <a:prstGeom prst="rect">
            <a:avLst/>
          </a:prstGeom>
          <a:noFill/>
        </p:spPr>
        <p:txBody>
          <a:bodyPr wrap="square" lIns="0" tIns="0" rIns="0" bIns="0" anchor="t">
            <a:spAutoFit/>
          </a:bodyPr>
          <a:lstStyle/>
          <a:p>
            <a:pPr algn="l"/>
            <a:r>
              <a:rPr sz="1300" b="0" i="0">
                <a:solidFill>
                  <a:srgbClr val="8E98B1"/>
                </a:solidFill>
                <a:latin typeface="Arial"/>
              </a:rPr>
              <a:t>Every merged screen went back to Payreq. The reviewer's notes shaped how we built the next one.</a:t>
            </a:r>
          </a:p>
        </p:txBody>
      </p:sp>
      <p:sp>
        <p:nvSpPr>
          <p:cNvPr id="14" name="Oval 13"/>
          <p:cNvSpPr/>
          <p:nvPr/>
        </p:nvSpPr>
        <p:spPr>
          <a:xfrm>
            <a:off x="1920240" y="3017520"/>
            <a:ext cx="2377440" cy="2377440"/>
          </a:xfrm>
          <a:prstGeom prst="ellipse">
            <a:avLst/>
          </a:prstGeom>
          <a:noFill/>
          <a:ln w="19050">
            <a:solidFill>
              <a:srgbClr val="062A4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592324" y="2500884"/>
            <a:ext cx="1033272" cy="10332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628900" y="2537460"/>
            <a:ext cx="960120" cy="960120"/>
          </a:xfrm>
          <a:prstGeom prst="ellipse">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83180" y="2537460"/>
            <a:ext cx="1051560" cy="960120"/>
          </a:xfrm>
          <a:prstGeom prst="rect">
            <a:avLst/>
          </a:prstGeom>
          <a:noFill/>
        </p:spPr>
        <p:txBody>
          <a:bodyPr wrap="square" lIns="0" tIns="0" rIns="0" bIns="0" anchor="ctr">
            <a:spAutoFit/>
          </a:bodyPr>
          <a:lstStyle/>
          <a:p>
            <a:pPr algn="ctr"/>
            <a:r>
              <a:rPr sz="1300" b="1" i="0">
                <a:solidFill>
                  <a:srgbClr val="062A4B"/>
                </a:solidFill>
                <a:latin typeface="Arial"/>
              </a:rPr>
              <a:t>Merge</a:t>
            </a:r>
          </a:p>
        </p:txBody>
      </p:sp>
      <p:sp>
        <p:nvSpPr>
          <p:cNvPr id="18" name="Oval 17"/>
          <p:cNvSpPr/>
          <p:nvPr/>
        </p:nvSpPr>
        <p:spPr>
          <a:xfrm>
            <a:off x="3781044" y="3689604"/>
            <a:ext cx="1033272" cy="10332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817620" y="3726180"/>
            <a:ext cx="960120" cy="960120"/>
          </a:xfrm>
          <a:prstGeom prst="ellipse">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71900" y="3726180"/>
            <a:ext cx="1051560" cy="960120"/>
          </a:xfrm>
          <a:prstGeom prst="rect">
            <a:avLst/>
          </a:prstGeom>
          <a:noFill/>
        </p:spPr>
        <p:txBody>
          <a:bodyPr wrap="square" lIns="0" tIns="0" rIns="0" bIns="0" anchor="ctr">
            <a:spAutoFit/>
          </a:bodyPr>
          <a:lstStyle/>
          <a:p>
            <a:pPr algn="ctr"/>
            <a:r>
              <a:rPr sz="1300" b="1" i="0">
                <a:solidFill>
                  <a:srgbClr val="062A4B"/>
                </a:solidFill>
                <a:latin typeface="Arial"/>
              </a:rPr>
              <a:t>Review</a:t>
            </a:r>
          </a:p>
        </p:txBody>
      </p:sp>
      <p:sp>
        <p:nvSpPr>
          <p:cNvPr id="21" name="Oval 20"/>
          <p:cNvSpPr/>
          <p:nvPr/>
        </p:nvSpPr>
        <p:spPr>
          <a:xfrm>
            <a:off x="2592324" y="4878324"/>
            <a:ext cx="1033272" cy="10332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628900" y="4914900"/>
            <a:ext cx="960120" cy="960120"/>
          </a:xfrm>
          <a:prstGeom prst="ellipse">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83180" y="4914900"/>
            <a:ext cx="1051560" cy="960120"/>
          </a:xfrm>
          <a:prstGeom prst="rect">
            <a:avLst/>
          </a:prstGeom>
          <a:noFill/>
        </p:spPr>
        <p:txBody>
          <a:bodyPr wrap="square" lIns="0" tIns="0" rIns="0" bIns="0" anchor="ctr">
            <a:spAutoFit/>
          </a:bodyPr>
          <a:lstStyle/>
          <a:p>
            <a:pPr algn="ctr"/>
            <a:r>
              <a:rPr sz="1300" b="1" i="0">
                <a:solidFill>
                  <a:srgbClr val="062A4B"/>
                </a:solidFill>
                <a:latin typeface="Arial"/>
              </a:rPr>
              <a:t>Feedback</a:t>
            </a:r>
          </a:p>
        </p:txBody>
      </p:sp>
      <p:sp>
        <p:nvSpPr>
          <p:cNvPr id="24" name="Oval 23"/>
          <p:cNvSpPr/>
          <p:nvPr/>
        </p:nvSpPr>
        <p:spPr>
          <a:xfrm>
            <a:off x="1403604" y="3689604"/>
            <a:ext cx="1033272" cy="10332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440180" y="3726180"/>
            <a:ext cx="960120" cy="960120"/>
          </a:xfrm>
          <a:prstGeom prst="ellipse">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94460" y="3726180"/>
            <a:ext cx="1051560" cy="960120"/>
          </a:xfrm>
          <a:prstGeom prst="rect">
            <a:avLst/>
          </a:prstGeom>
          <a:noFill/>
        </p:spPr>
        <p:txBody>
          <a:bodyPr wrap="square" lIns="0" tIns="0" rIns="0" bIns="0" anchor="ctr">
            <a:spAutoFit/>
          </a:bodyPr>
          <a:lstStyle/>
          <a:p>
            <a:pPr algn="ctr"/>
            <a:r>
              <a:rPr sz="1300" b="1" i="0">
                <a:solidFill>
                  <a:srgbClr val="062A4B"/>
                </a:solidFill>
                <a:latin typeface="Arial"/>
              </a:rPr>
              <a:t>Refine</a:t>
            </a:r>
          </a:p>
        </p:txBody>
      </p:sp>
      <p:sp>
        <p:nvSpPr>
          <p:cNvPr id="27" name="Right Arrow 26"/>
          <p:cNvSpPr/>
          <p:nvPr/>
        </p:nvSpPr>
        <p:spPr>
          <a:xfrm rot="2700000">
            <a:off x="3751783" y="3252520"/>
            <a:ext cx="402336" cy="219456"/>
          </a:xfrm>
          <a:prstGeom prst="rightArrow">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ight Arrow 27"/>
          <p:cNvSpPr/>
          <p:nvPr/>
        </p:nvSpPr>
        <p:spPr>
          <a:xfrm rot="8100000">
            <a:off x="3751783" y="4940503"/>
            <a:ext cx="402336" cy="219456"/>
          </a:xfrm>
          <a:prstGeom prst="rightArrow">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ight Arrow 28"/>
          <p:cNvSpPr/>
          <p:nvPr/>
        </p:nvSpPr>
        <p:spPr>
          <a:xfrm rot="13500000">
            <a:off x="2063800" y="4940503"/>
            <a:ext cx="402336" cy="219456"/>
          </a:xfrm>
          <a:prstGeom prst="rightArrow">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29"/>
          <p:cNvSpPr/>
          <p:nvPr/>
        </p:nvSpPr>
        <p:spPr>
          <a:xfrm rot="18900000">
            <a:off x="2063800" y="3252520"/>
            <a:ext cx="402336" cy="219456"/>
          </a:xfrm>
          <a:prstGeom prst="rightArrow">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60320" y="4005072"/>
            <a:ext cx="1097280" cy="411480"/>
          </a:xfrm>
          <a:prstGeom prst="rect">
            <a:avLst/>
          </a:prstGeom>
          <a:noFill/>
        </p:spPr>
        <p:txBody>
          <a:bodyPr wrap="square" lIns="0" tIns="0" rIns="0" bIns="0" anchor="ctr">
            <a:spAutoFit/>
          </a:bodyPr>
          <a:lstStyle/>
          <a:p>
            <a:pPr algn="ctr"/>
            <a:r>
              <a:rPr sz="4000" b="1" i="0">
                <a:solidFill>
                  <a:srgbClr val="1863DC"/>
                </a:solidFill>
                <a:latin typeface="Arial"/>
              </a:rPr>
              <a:t>↻</a:t>
            </a:r>
          </a:p>
        </p:txBody>
      </p:sp>
      <p:sp>
        <p:nvSpPr>
          <p:cNvPr id="33" name="Rectangle 32"/>
          <p:cNvSpPr/>
          <p:nvPr/>
        </p:nvSpPr>
        <p:spPr>
          <a:xfrm>
            <a:off x="6035040" y="2331720"/>
            <a:ext cx="5577840" cy="128016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17920" y="2331720"/>
            <a:ext cx="1828800" cy="1280160"/>
          </a:xfrm>
          <a:prstGeom prst="rect">
            <a:avLst/>
          </a:prstGeom>
          <a:noFill/>
        </p:spPr>
        <p:txBody>
          <a:bodyPr wrap="square" lIns="0" tIns="0" rIns="0" bIns="0" anchor="ctr">
            <a:spAutoFit/>
          </a:bodyPr>
          <a:lstStyle/>
          <a:p>
            <a:pPr algn="ctr"/>
            <a:r>
              <a:rPr sz="5800" b="1" i="0">
                <a:solidFill>
                  <a:srgbClr val="A7F1DA"/>
                </a:solidFill>
                <a:latin typeface="Arial"/>
              </a:rPr>
              <a:t>×25</a:t>
            </a:r>
          </a:p>
        </p:txBody>
      </p:sp>
      <p:sp>
        <p:nvSpPr>
          <p:cNvPr id="35" name="TextBox 34"/>
          <p:cNvSpPr txBox="1"/>
          <p:nvPr/>
        </p:nvSpPr>
        <p:spPr>
          <a:xfrm>
            <a:off x="8046720" y="2331720"/>
            <a:ext cx="3383280" cy="1280160"/>
          </a:xfrm>
          <a:prstGeom prst="rect">
            <a:avLst/>
          </a:prstGeom>
          <a:noFill/>
        </p:spPr>
        <p:txBody>
          <a:bodyPr wrap="square" lIns="0" tIns="0" rIns="0" bIns="0" anchor="ctr">
            <a:spAutoFit/>
          </a:bodyPr>
          <a:lstStyle/>
          <a:p>
            <a:pPr algn="l"/>
            <a:r>
              <a:rPr sz="1200" b="0" i="0">
                <a:solidFill>
                  <a:srgbClr val="AFCFF8"/>
                </a:solidFill>
                <a:latin typeface="Arial"/>
              </a:rPr>
              <a:t>screens</a:t>
            </a:r>
          </a:p>
          <a:p>
            <a:pPr algn="l"/>
            <a:r>
              <a:rPr sz="1500" b="1" i="0">
                <a:solidFill>
                  <a:srgbClr val="FFFFFF"/>
                </a:solidFill>
                <a:latin typeface="Arial"/>
              </a:rPr>
              <a:t>reviewed by Payreq</a:t>
            </a:r>
          </a:p>
          <a:p>
            <a:pPr algn="l"/>
            <a:r>
              <a:rPr sz="1000" b="0" i="1">
                <a:solidFill>
                  <a:srgbClr val="8E98B1"/>
                </a:solidFill>
                <a:latin typeface="Arial"/>
              </a:rPr>
              <a:t>senior engineer per screen</a:t>
            </a:r>
          </a:p>
        </p:txBody>
      </p:sp>
      <p:sp>
        <p:nvSpPr>
          <p:cNvPr id="36" name="Rectangle 35"/>
          <p:cNvSpPr/>
          <p:nvPr/>
        </p:nvSpPr>
        <p:spPr>
          <a:xfrm>
            <a:off x="6035040" y="3767328"/>
            <a:ext cx="292608" cy="292608"/>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46520" y="3703320"/>
            <a:ext cx="5166360" cy="502920"/>
          </a:xfrm>
          <a:prstGeom prst="rect">
            <a:avLst/>
          </a:prstGeom>
          <a:noFill/>
        </p:spPr>
        <p:txBody>
          <a:bodyPr wrap="square" lIns="0" tIns="0" rIns="0" bIns="0" anchor="ctr">
            <a:spAutoFit/>
          </a:bodyPr>
          <a:lstStyle/>
          <a:p>
            <a:pPr algn="l"/>
            <a:r>
              <a:rPr sz="1200" b="1" i="0">
                <a:solidFill>
                  <a:srgbClr val="062A4B"/>
                </a:solidFill>
                <a:latin typeface="Arial"/>
              </a:rPr>
              <a:t>Senior engineer pulls main  </a:t>
            </a:r>
            <a:r>
              <a:rPr sz="1100" b="0" i="0">
                <a:solidFill>
                  <a:srgbClr val="8E98B1"/>
                </a:solidFill>
                <a:latin typeface="Arial"/>
              </a:rPr>
              <a:t>Branch handed off after QA — pulls and runs locally.</a:t>
            </a:r>
          </a:p>
        </p:txBody>
      </p:sp>
      <p:sp>
        <p:nvSpPr>
          <p:cNvPr id="38" name="Rectangle 37"/>
          <p:cNvSpPr/>
          <p:nvPr/>
        </p:nvSpPr>
        <p:spPr>
          <a:xfrm>
            <a:off x="6035040" y="4297680"/>
            <a:ext cx="292608" cy="292608"/>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46520" y="4233672"/>
            <a:ext cx="5166360" cy="502920"/>
          </a:xfrm>
          <a:prstGeom prst="rect">
            <a:avLst/>
          </a:prstGeom>
          <a:noFill/>
        </p:spPr>
        <p:txBody>
          <a:bodyPr wrap="square" lIns="0" tIns="0" rIns="0" bIns="0" anchor="ctr">
            <a:spAutoFit/>
          </a:bodyPr>
          <a:lstStyle/>
          <a:p>
            <a:pPr algn="l"/>
            <a:r>
              <a:rPr sz="1200" b="1" i="0">
                <a:solidFill>
                  <a:srgbClr val="062A4B"/>
                </a:solidFill>
                <a:latin typeface="Arial"/>
              </a:rPr>
              <a:t>Reviews against production standards  </a:t>
            </a:r>
            <a:r>
              <a:rPr sz="1100" b="0" i="0">
                <a:solidFill>
                  <a:srgbClr val="8E98B1"/>
                </a:solidFill>
                <a:latin typeface="Arial"/>
              </a:rPr>
              <a:t>Code style, naming, Bootstrap usage, role behaviour.</a:t>
            </a:r>
          </a:p>
        </p:txBody>
      </p:sp>
      <p:sp>
        <p:nvSpPr>
          <p:cNvPr id="40" name="Rectangle 39"/>
          <p:cNvSpPr/>
          <p:nvPr/>
        </p:nvSpPr>
        <p:spPr>
          <a:xfrm>
            <a:off x="6035040" y="4828032"/>
            <a:ext cx="292608" cy="292608"/>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46520" y="4764024"/>
            <a:ext cx="5166360" cy="502920"/>
          </a:xfrm>
          <a:prstGeom prst="rect">
            <a:avLst/>
          </a:prstGeom>
          <a:noFill/>
        </p:spPr>
        <p:txBody>
          <a:bodyPr wrap="square" lIns="0" tIns="0" rIns="0" bIns="0" anchor="ctr">
            <a:spAutoFit/>
          </a:bodyPr>
          <a:lstStyle/>
          <a:p>
            <a:pPr algn="l"/>
            <a:r>
              <a:rPr sz="1200" b="1" i="0">
                <a:solidFill>
                  <a:srgbClr val="062A4B"/>
                </a:solidFill>
                <a:latin typeface="Arial"/>
              </a:rPr>
              <a:t>Gives focused feedback  </a:t>
            </a:r>
            <a:r>
              <a:rPr sz="1100" b="0" i="0">
                <a:solidFill>
                  <a:srgbClr val="8E98B1"/>
                </a:solidFill>
                <a:latin typeface="Arial"/>
              </a:rPr>
              <a:t>Specific notes per file/line in PR comments.</a:t>
            </a:r>
          </a:p>
        </p:txBody>
      </p:sp>
      <p:sp>
        <p:nvSpPr>
          <p:cNvPr id="42" name="Rectangle 41"/>
          <p:cNvSpPr/>
          <p:nvPr/>
        </p:nvSpPr>
        <p:spPr>
          <a:xfrm>
            <a:off x="6035040" y="5358384"/>
            <a:ext cx="292608" cy="292608"/>
          </a:xfrm>
          <a:prstGeom prst="rect">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46520" y="5294376"/>
            <a:ext cx="5166360" cy="502920"/>
          </a:xfrm>
          <a:prstGeom prst="rect">
            <a:avLst/>
          </a:prstGeom>
          <a:noFill/>
        </p:spPr>
        <p:txBody>
          <a:bodyPr wrap="square" lIns="0" tIns="0" rIns="0" bIns="0" anchor="ctr">
            <a:spAutoFit/>
          </a:bodyPr>
          <a:lstStyle/>
          <a:p>
            <a:pPr algn="l"/>
            <a:r>
              <a:rPr sz="1200" b="1" i="0">
                <a:solidFill>
                  <a:srgbClr val="062A4B"/>
                </a:solidFill>
                <a:latin typeface="Arial"/>
              </a:rPr>
              <a:t>Refine + repeat per screen  </a:t>
            </a:r>
            <a:r>
              <a:rPr sz="1100" b="0" i="0">
                <a:solidFill>
                  <a:srgbClr val="8E98B1"/>
                </a:solidFill>
                <a:latin typeface="Arial"/>
              </a:rPr>
              <a:t>Apply notes, re-test, move on — patterns sharpen.</a:t>
            </a:r>
          </a:p>
        </p:txBody>
      </p:sp>
      <p:sp>
        <p:nvSpPr>
          <p:cNvPr id="44" name="Rectangle 43"/>
          <p:cNvSpPr/>
          <p:nvPr/>
        </p:nvSpPr>
        <p:spPr>
          <a:xfrm>
            <a:off x="548640" y="5943600"/>
            <a:ext cx="11064240"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48640" y="5943600"/>
            <a:ext cx="109728" cy="502920"/>
          </a:xfrm>
          <a:prstGeom prst="rect">
            <a:avLst/>
          </a:prstGeom>
          <a:solidFill>
            <a:srgbClr val="186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2960" y="5943600"/>
            <a:ext cx="10698480" cy="502920"/>
          </a:xfrm>
          <a:prstGeom prst="rect">
            <a:avLst/>
          </a:prstGeom>
          <a:noFill/>
        </p:spPr>
        <p:txBody>
          <a:bodyPr wrap="square" lIns="0" tIns="0" rIns="0" bIns="0" anchor="ctr">
            <a:spAutoFit/>
          </a:bodyPr>
          <a:lstStyle/>
          <a:p>
            <a:pPr algn="l"/>
            <a:r>
              <a:rPr sz="1600" b="1" i="0">
                <a:solidFill>
                  <a:srgbClr val="1863DC"/>
                </a:solidFill>
                <a:latin typeface="Arial"/>
              </a:rPr>
              <a:t>" </a:t>
            </a:r>
            <a:r>
              <a:rPr sz="1200" b="0" i="1">
                <a:solidFill>
                  <a:srgbClr val="062A4B"/>
                </a:solidFill>
                <a:latin typeface="Arial"/>
              </a:rPr>
              <a:t>Each round of feedback compounded  —  by screen 25 we were writing review-ready PRs on the first try.</a:t>
            </a:r>
            <a:r>
              <a:rPr sz="1600" b="1" i="0">
                <a:solidFill>
                  <a:srgbClr val="1863DC"/>
                </a:solidFill>
                <a:latin typeface="Arial"/>
              </a:rPr>
              <a:t>  "</a:t>
            </a:r>
          </a:p>
        </p:txBody>
      </p:sp>
      <p:sp>
        <p:nvSpPr>
          <p:cNvPr id="47" name="Rectangle 46"/>
          <p:cNvSpPr/>
          <p:nvPr/>
        </p:nvSpPr>
        <p:spPr>
          <a:xfrm>
            <a:off x="0" y="6537960"/>
            <a:ext cx="12192000" cy="3200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65760" y="6565392"/>
            <a:ext cx="2286000" cy="274320"/>
          </a:xfrm>
          <a:prstGeom prst="rect">
            <a:avLst/>
          </a:prstGeom>
          <a:noFill/>
        </p:spPr>
        <p:txBody>
          <a:bodyPr wrap="square" lIns="0" tIns="0" rIns="0" bIns="0" anchor="ctr">
            <a:spAutoFit/>
          </a:bodyPr>
          <a:lstStyle/>
          <a:p>
            <a:pPr algn="l"/>
            <a:r>
              <a:rPr sz="1000" b="0" i="0">
                <a:solidFill>
                  <a:srgbClr val="FFFFFF"/>
                </a:solidFill>
                <a:latin typeface="Arial"/>
              </a:rPr>
              <a:t>Copyright 2026</a:t>
            </a:r>
          </a:p>
        </p:txBody>
      </p:sp>
      <p:sp>
        <p:nvSpPr>
          <p:cNvPr id="49" name="TextBox 48"/>
          <p:cNvSpPr txBox="1"/>
          <p:nvPr/>
        </p:nvSpPr>
        <p:spPr>
          <a:xfrm>
            <a:off x="11430000" y="6565392"/>
            <a:ext cx="548640" cy="274320"/>
          </a:xfrm>
          <a:prstGeom prst="rect">
            <a:avLst/>
          </a:prstGeom>
          <a:noFill/>
        </p:spPr>
        <p:txBody>
          <a:bodyPr wrap="square" lIns="0" tIns="0" rIns="0" bIns="0" anchor="ctr">
            <a:spAutoFit/>
          </a:bodyPr>
          <a:lstStyle/>
          <a:p>
            <a:pPr algn="r"/>
            <a:r>
              <a:rPr sz="1000" b="0" i="0">
                <a:solidFill>
                  <a:srgbClr val="FFFFFF"/>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4"/>
          </p:nvPr>
        </p:nvSpPr>
        <p:spPr/>
        <p:txBody>
          <a:bodyPr/>
          <a:lstStyle/>
          <a:p>
            <a:endParaRPr/>
          </a:p>
        </p:txBody>
      </p:sp>
      <p:sp>
        <p:nvSpPr>
          <p:cNvPr id="5" name="Text Placeholder 4"/>
          <p:cNvSpPr>
            <a:spLocks noGrp="1"/>
          </p:cNvSpPr>
          <p:nvPr>
            <p:ph type="body" sz="quarter" idx="15"/>
          </p:nvPr>
        </p:nvSpPr>
        <p:spPr/>
        <p:txBody>
          <a:bodyPr/>
          <a:lstStyle/>
          <a:p>
            <a:endParaRPr/>
          </a:p>
        </p:txBody>
      </p:sp>
      <p:sp>
        <p:nvSpPr>
          <p:cNvPr id="6" name="Rectangle 5"/>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915394" y="0"/>
            <a:ext cx="276606" cy="276606"/>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362182" y="0"/>
            <a:ext cx="553212" cy="276606"/>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362182" y="276606"/>
            <a:ext cx="276606" cy="276606"/>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085576" y="276606"/>
            <a:ext cx="276606" cy="276606"/>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11480"/>
            <a:ext cx="7315200" cy="292608"/>
          </a:xfrm>
          <a:prstGeom prst="rect">
            <a:avLst/>
          </a:prstGeom>
          <a:noFill/>
        </p:spPr>
        <p:txBody>
          <a:bodyPr wrap="square" lIns="0" tIns="0" rIns="0" bIns="0" anchor="t">
            <a:spAutoFit/>
          </a:bodyPr>
          <a:lstStyle/>
          <a:p>
            <a:pPr algn="l"/>
            <a:r>
              <a:rPr sz="1100" b="1" i="0" spc="800">
                <a:solidFill>
                  <a:srgbClr val="1863DC"/>
                </a:solidFill>
                <a:latin typeface="Arial"/>
              </a:rPr>
              <a:t>THE STACK</a:t>
            </a:r>
          </a:p>
        </p:txBody>
      </p:sp>
      <p:sp>
        <p:nvSpPr>
          <p:cNvPr id="12" name="TextBox 11"/>
          <p:cNvSpPr txBox="1"/>
          <p:nvPr/>
        </p:nvSpPr>
        <p:spPr>
          <a:xfrm>
            <a:off x="548640" y="713232"/>
            <a:ext cx="10972800" cy="868680"/>
          </a:xfrm>
          <a:prstGeom prst="rect">
            <a:avLst/>
          </a:prstGeom>
          <a:noFill/>
        </p:spPr>
        <p:txBody>
          <a:bodyPr wrap="square" lIns="0" tIns="0" rIns="0" bIns="0" anchor="t">
            <a:spAutoFit/>
          </a:bodyPr>
          <a:lstStyle/>
          <a:p>
            <a:pPr algn="l"/>
            <a:r>
              <a:rPr sz="3600" b="1" i="0">
                <a:solidFill>
                  <a:srgbClr val="062A4B"/>
                </a:solidFill>
                <a:latin typeface="Arial"/>
              </a:rPr>
              <a:t>Technologies Used</a:t>
            </a:r>
          </a:p>
        </p:txBody>
      </p:sp>
      <p:sp>
        <p:nvSpPr>
          <p:cNvPr id="13" name="TextBox 12"/>
          <p:cNvSpPr txBox="1"/>
          <p:nvPr/>
        </p:nvSpPr>
        <p:spPr>
          <a:xfrm>
            <a:off x="548640" y="1691640"/>
            <a:ext cx="10972800" cy="200055"/>
          </a:xfrm>
          <a:prstGeom prst="rect">
            <a:avLst/>
          </a:prstGeom>
          <a:noFill/>
        </p:spPr>
        <p:txBody>
          <a:bodyPr wrap="square" lIns="0" tIns="0" rIns="0" bIns="0" anchor="t">
            <a:spAutoFit/>
          </a:bodyPr>
          <a:lstStyle/>
          <a:p>
            <a:pPr algn="l"/>
            <a:r>
              <a:rPr sz="1300" b="0" i="0">
                <a:solidFill>
                  <a:srgbClr val="8E98B1"/>
                </a:solidFill>
                <a:latin typeface="Arial"/>
              </a:rPr>
              <a:t>Front-end migration the stack we built, the AI we partnered with, the tools we shipped on.</a:t>
            </a:r>
          </a:p>
        </p:txBody>
      </p:sp>
      <p:sp>
        <p:nvSpPr>
          <p:cNvPr id="14" name="Rectangle 13"/>
          <p:cNvSpPr/>
          <p:nvPr/>
        </p:nvSpPr>
        <p:spPr>
          <a:xfrm>
            <a:off x="548640" y="2331720"/>
            <a:ext cx="2377440" cy="36576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2331720"/>
            <a:ext cx="2377440" cy="365760"/>
          </a:xfrm>
          <a:prstGeom prst="rect">
            <a:avLst/>
          </a:prstGeom>
          <a:noFill/>
        </p:spPr>
        <p:txBody>
          <a:bodyPr wrap="square" lIns="0" tIns="0" rIns="0" bIns="0" anchor="ctr">
            <a:spAutoFit/>
          </a:bodyPr>
          <a:lstStyle/>
          <a:p>
            <a:pPr algn="ctr"/>
            <a:r>
              <a:rPr sz="1100" b="1" i="0" spc="600">
                <a:solidFill>
                  <a:srgbClr val="062A4B"/>
                </a:solidFill>
                <a:latin typeface="Arial"/>
              </a:rPr>
              <a:t>FRONTEND</a:t>
            </a:r>
          </a:p>
        </p:txBody>
      </p:sp>
      <p:sp>
        <p:nvSpPr>
          <p:cNvPr id="16" name="Rectangle 15"/>
          <p:cNvSpPr/>
          <p:nvPr/>
        </p:nvSpPr>
        <p:spPr>
          <a:xfrm>
            <a:off x="548640" y="292608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2926080"/>
            <a:ext cx="91440" cy="566928"/>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2999232"/>
            <a:ext cx="3291840" cy="228600"/>
          </a:xfrm>
          <a:prstGeom prst="rect">
            <a:avLst/>
          </a:prstGeom>
          <a:noFill/>
        </p:spPr>
        <p:txBody>
          <a:bodyPr wrap="square" lIns="0" tIns="0" rIns="0" bIns="0" anchor="t">
            <a:spAutoFit/>
          </a:bodyPr>
          <a:lstStyle/>
          <a:p>
            <a:pPr algn="l"/>
            <a:r>
              <a:rPr sz="1300" b="1" i="0">
                <a:solidFill>
                  <a:srgbClr val="062A4B"/>
                </a:solidFill>
                <a:latin typeface="Arial"/>
              </a:rPr>
              <a:t>React</a:t>
            </a:r>
          </a:p>
        </p:txBody>
      </p:sp>
      <p:sp>
        <p:nvSpPr>
          <p:cNvPr id="19" name="TextBox 18"/>
          <p:cNvSpPr txBox="1"/>
          <p:nvPr/>
        </p:nvSpPr>
        <p:spPr>
          <a:xfrm>
            <a:off x="777240" y="3218688"/>
            <a:ext cx="3291840" cy="246888"/>
          </a:xfrm>
          <a:prstGeom prst="rect">
            <a:avLst/>
          </a:prstGeom>
          <a:noFill/>
        </p:spPr>
        <p:txBody>
          <a:bodyPr wrap="square" lIns="0" tIns="0" rIns="0" bIns="0" anchor="t">
            <a:spAutoFit/>
          </a:bodyPr>
          <a:lstStyle/>
          <a:p>
            <a:pPr algn="l"/>
            <a:r>
              <a:rPr sz="1000" b="0" i="0">
                <a:solidFill>
                  <a:srgbClr val="8E98B1"/>
                </a:solidFill>
                <a:latin typeface="Arial"/>
              </a:rPr>
              <a:t>Modern framework · hooks</a:t>
            </a:r>
          </a:p>
        </p:txBody>
      </p:sp>
      <p:sp>
        <p:nvSpPr>
          <p:cNvPr id="20" name="Rectangle 19"/>
          <p:cNvSpPr/>
          <p:nvPr/>
        </p:nvSpPr>
        <p:spPr>
          <a:xfrm>
            <a:off x="548640" y="356616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3566160"/>
            <a:ext cx="91440" cy="566928"/>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3639312"/>
            <a:ext cx="3291840" cy="228600"/>
          </a:xfrm>
          <a:prstGeom prst="rect">
            <a:avLst/>
          </a:prstGeom>
          <a:noFill/>
        </p:spPr>
        <p:txBody>
          <a:bodyPr wrap="square" lIns="0" tIns="0" rIns="0" bIns="0" anchor="t">
            <a:spAutoFit/>
          </a:bodyPr>
          <a:lstStyle/>
          <a:p>
            <a:pPr algn="l"/>
            <a:r>
              <a:rPr sz="1300" b="1" i="0">
                <a:solidFill>
                  <a:srgbClr val="062A4B"/>
                </a:solidFill>
                <a:latin typeface="Arial"/>
              </a:rPr>
              <a:t>Ember.js</a:t>
            </a:r>
          </a:p>
        </p:txBody>
      </p:sp>
      <p:sp>
        <p:nvSpPr>
          <p:cNvPr id="23" name="TextBox 22"/>
          <p:cNvSpPr txBox="1"/>
          <p:nvPr/>
        </p:nvSpPr>
        <p:spPr>
          <a:xfrm>
            <a:off x="777240" y="3858768"/>
            <a:ext cx="3291840" cy="246888"/>
          </a:xfrm>
          <a:prstGeom prst="rect">
            <a:avLst/>
          </a:prstGeom>
          <a:noFill/>
        </p:spPr>
        <p:txBody>
          <a:bodyPr wrap="square" lIns="0" tIns="0" rIns="0" bIns="0" anchor="t">
            <a:spAutoFit/>
          </a:bodyPr>
          <a:lstStyle/>
          <a:p>
            <a:pPr algn="l"/>
            <a:r>
              <a:rPr sz="1000" b="0" i="0">
                <a:solidFill>
                  <a:srgbClr val="8E98B1"/>
                </a:solidFill>
                <a:latin typeface="Arial"/>
              </a:rPr>
              <a:t>Legacy source of truth</a:t>
            </a:r>
          </a:p>
        </p:txBody>
      </p:sp>
      <p:sp>
        <p:nvSpPr>
          <p:cNvPr id="24" name="Rectangle 23"/>
          <p:cNvSpPr/>
          <p:nvPr/>
        </p:nvSpPr>
        <p:spPr>
          <a:xfrm>
            <a:off x="548640" y="420624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8640" y="4206240"/>
            <a:ext cx="91440" cy="566928"/>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4279392"/>
            <a:ext cx="3291840" cy="228600"/>
          </a:xfrm>
          <a:prstGeom prst="rect">
            <a:avLst/>
          </a:prstGeom>
          <a:noFill/>
        </p:spPr>
        <p:txBody>
          <a:bodyPr wrap="square" lIns="0" tIns="0" rIns="0" bIns="0" anchor="t">
            <a:spAutoFit/>
          </a:bodyPr>
          <a:lstStyle/>
          <a:p>
            <a:pPr algn="l"/>
            <a:r>
              <a:rPr sz="1300" b="1" i="0">
                <a:solidFill>
                  <a:srgbClr val="062A4B"/>
                </a:solidFill>
                <a:latin typeface="Arial"/>
              </a:rPr>
              <a:t>Bootstrap</a:t>
            </a:r>
          </a:p>
        </p:txBody>
      </p:sp>
      <p:sp>
        <p:nvSpPr>
          <p:cNvPr id="27" name="TextBox 26"/>
          <p:cNvSpPr txBox="1"/>
          <p:nvPr/>
        </p:nvSpPr>
        <p:spPr>
          <a:xfrm>
            <a:off x="777240" y="4498848"/>
            <a:ext cx="3291840" cy="246888"/>
          </a:xfrm>
          <a:prstGeom prst="rect">
            <a:avLst/>
          </a:prstGeom>
          <a:noFill/>
        </p:spPr>
        <p:txBody>
          <a:bodyPr wrap="square" lIns="0" tIns="0" rIns="0" bIns="0" anchor="t">
            <a:spAutoFit/>
          </a:bodyPr>
          <a:lstStyle/>
          <a:p>
            <a:pPr algn="l"/>
            <a:r>
              <a:rPr sz="1000" b="0" i="0">
                <a:solidFill>
                  <a:srgbClr val="8E98B1"/>
                </a:solidFill>
                <a:latin typeface="Arial"/>
              </a:rPr>
              <a:t>Existing UI styles preserved</a:t>
            </a:r>
          </a:p>
        </p:txBody>
      </p:sp>
      <p:sp>
        <p:nvSpPr>
          <p:cNvPr id="28" name="Rectangle 27"/>
          <p:cNvSpPr/>
          <p:nvPr/>
        </p:nvSpPr>
        <p:spPr>
          <a:xfrm>
            <a:off x="4343400" y="2331720"/>
            <a:ext cx="2377440" cy="365760"/>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343400" y="2331720"/>
            <a:ext cx="2377440" cy="365760"/>
          </a:xfrm>
          <a:prstGeom prst="rect">
            <a:avLst/>
          </a:prstGeom>
          <a:noFill/>
        </p:spPr>
        <p:txBody>
          <a:bodyPr wrap="square" lIns="0" tIns="0" rIns="0" bIns="0" anchor="ctr">
            <a:spAutoFit/>
          </a:bodyPr>
          <a:lstStyle/>
          <a:p>
            <a:pPr algn="ctr"/>
            <a:r>
              <a:rPr sz="1100" b="1" i="0" spc="600">
                <a:solidFill>
                  <a:srgbClr val="062A4B"/>
                </a:solidFill>
                <a:latin typeface="Arial"/>
              </a:rPr>
              <a:t>AI TOOLS</a:t>
            </a:r>
          </a:p>
        </p:txBody>
      </p:sp>
      <p:sp>
        <p:nvSpPr>
          <p:cNvPr id="30" name="Rectangle 29"/>
          <p:cNvSpPr/>
          <p:nvPr/>
        </p:nvSpPr>
        <p:spPr>
          <a:xfrm>
            <a:off x="4343400" y="292608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343400" y="2926080"/>
            <a:ext cx="91440" cy="566928"/>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0" y="2999232"/>
            <a:ext cx="3291840" cy="228600"/>
          </a:xfrm>
          <a:prstGeom prst="rect">
            <a:avLst/>
          </a:prstGeom>
          <a:noFill/>
        </p:spPr>
        <p:txBody>
          <a:bodyPr wrap="square" lIns="0" tIns="0" rIns="0" bIns="0" anchor="t">
            <a:spAutoFit/>
          </a:bodyPr>
          <a:lstStyle/>
          <a:p>
            <a:pPr algn="l"/>
            <a:r>
              <a:rPr sz="1300" b="1" i="0">
                <a:solidFill>
                  <a:srgbClr val="062A4B"/>
                </a:solidFill>
                <a:latin typeface="Arial"/>
              </a:rPr>
              <a:t>ChatGPT</a:t>
            </a:r>
          </a:p>
        </p:txBody>
      </p:sp>
      <p:sp>
        <p:nvSpPr>
          <p:cNvPr id="33" name="TextBox 32"/>
          <p:cNvSpPr txBox="1"/>
          <p:nvPr/>
        </p:nvSpPr>
        <p:spPr>
          <a:xfrm>
            <a:off x="4572000" y="3218688"/>
            <a:ext cx="3291840" cy="246888"/>
          </a:xfrm>
          <a:prstGeom prst="rect">
            <a:avLst/>
          </a:prstGeom>
          <a:noFill/>
        </p:spPr>
        <p:txBody>
          <a:bodyPr wrap="square" lIns="0" tIns="0" rIns="0" bIns="0" anchor="t">
            <a:spAutoFit/>
          </a:bodyPr>
          <a:lstStyle/>
          <a:p>
            <a:pPr algn="l"/>
            <a:r>
              <a:rPr sz="1000" b="0" i="0">
                <a:solidFill>
                  <a:srgbClr val="8E98B1"/>
                </a:solidFill>
                <a:latin typeface="Arial"/>
              </a:rPr>
              <a:t>Specs · refactors · Q&amp;A</a:t>
            </a:r>
          </a:p>
        </p:txBody>
      </p:sp>
      <p:sp>
        <p:nvSpPr>
          <p:cNvPr id="34" name="Rectangle 33"/>
          <p:cNvSpPr/>
          <p:nvPr/>
        </p:nvSpPr>
        <p:spPr>
          <a:xfrm>
            <a:off x="4343400" y="356616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343400" y="3566160"/>
            <a:ext cx="91440" cy="566928"/>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0" y="3639312"/>
            <a:ext cx="3291840" cy="228600"/>
          </a:xfrm>
          <a:prstGeom prst="rect">
            <a:avLst/>
          </a:prstGeom>
          <a:noFill/>
        </p:spPr>
        <p:txBody>
          <a:bodyPr wrap="square" lIns="0" tIns="0" rIns="0" bIns="0" anchor="t">
            <a:spAutoFit/>
          </a:bodyPr>
          <a:lstStyle/>
          <a:p>
            <a:pPr algn="l"/>
            <a:r>
              <a:rPr sz="1300" b="1" i="0">
                <a:solidFill>
                  <a:srgbClr val="062A4B"/>
                </a:solidFill>
                <a:latin typeface="Arial"/>
              </a:rPr>
              <a:t>Claude Code</a:t>
            </a:r>
          </a:p>
        </p:txBody>
      </p:sp>
      <p:sp>
        <p:nvSpPr>
          <p:cNvPr id="37" name="TextBox 36"/>
          <p:cNvSpPr txBox="1"/>
          <p:nvPr/>
        </p:nvSpPr>
        <p:spPr>
          <a:xfrm>
            <a:off x="4572000" y="3858768"/>
            <a:ext cx="3291840" cy="246888"/>
          </a:xfrm>
          <a:prstGeom prst="rect">
            <a:avLst/>
          </a:prstGeom>
          <a:noFill/>
        </p:spPr>
        <p:txBody>
          <a:bodyPr wrap="square" lIns="0" tIns="0" rIns="0" bIns="0" anchor="t">
            <a:spAutoFit/>
          </a:bodyPr>
          <a:lstStyle/>
          <a:p>
            <a:pPr algn="l"/>
            <a:r>
              <a:rPr sz="1000" b="0" i="0">
                <a:solidFill>
                  <a:srgbClr val="8E98B1"/>
                </a:solidFill>
                <a:latin typeface="Arial"/>
              </a:rPr>
              <a:t>Agentic coding · reviews</a:t>
            </a:r>
          </a:p>
        </p:txBody>
      </p:sp>
      <p:sp>
        <p:nvSpPr>
          <p:cNvPr id="38" name="Rectangle 37"/>
          <p:cNvSpPr/>
          <p:nvPr/>
        </p:nvSpPr>
        <p:spPr>
          <a:xfrm>
            <a:off x="4343400" y="420624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343400" y="4206240"/>
            <a:ext cx="91440" cy="566928"/>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0" y="4279392"/>
            <a:ext cx="3291840" cy="228600"/>
          </a:xfrm>
          <a:prstGeom prst="rect">
            <a:avLst/>
          </a:prstGeom>
          <a:noFill/>
        </p:spPr>
        <p:txBody>
          <a:bodyPr wrap="square" lIns="0" tIns="0" rIns="0" bIns="0" anchor="t">
            <a:spAutoFit/>
          </a:bodyPr>
          <a:lstStyle/>
          <a:p>
            <a:pPr algn="l"/>
            <a:r>
              <a:rPr sz="1300" b="1" i="0">
                <a:solidFill>
                  <a:srgbClr val="062A4B"/>
                </a:solidFill>
                <a:latin typeface="Arial"/>
              </a:rPr>
              <a:t>Cursor</a:t>
            </a:r>
          </a:p>
        </p:txBody>
      </p:sp>
      <p:sp>
        <p:nvSpPr>
          <p:cNvPr id="41" name="TextBox 40"/>
          <p:cNvSpPr txBox="1"/>
          <p:nvPr/>
        </p:nvSpPr>
        <p:spPr>
          <a:xfrm>
            <a:off x="4572000" y="4498848"/>
            <a:ext cx="3291840" cy="246888"/>
          </a:xfrm>
          <a:prstGeom prst="rect">
            <a:avLst/>
          </a:prstGeom>
          <a:noFill/>
        </p:spPr>
        <p:txBody>
          <a:bodyPr wrap="square" lIns="0" tIns="0" rIns="0" bIns="0" anchor="t">
            <a:spAutoFit/>
          </a:bodyPr>
          <a:lstStyle/>
          <a:p>
            <a:pPr algn="l"/>
            <a:r>
              <a:rPr sz="1000" b="0" i="0">
                <a:solidFill>
                  <a:srgbClr val="8E98B1"/>
                </a:solidFill>
                <a:latin typeface="Arial"/>
              </a:rPr>
              <a:t>AI-native editor</a:t>
            </a:r>
          </a:p>
        </p:txBody>
      </p:sp>
      <p:sp>
        <p:nvSpPr>
          <p:cNvPr id="42" name="Rectangle 41"/>
          <p:cNvSpPr/>
          <p:nvPr/>
        </p:nvSpPr>
        <p:spPr>
          <a:xfrm>
            <a:off x="4343400" y="484632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343400" y="4846320"/>
            <a:ext cx="91440" cy="566928"/>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72000" y="4919472"/>
            <a:ext cx="3291840" cy="228600"/>
          </a:xfrm>
          <a:prstGeom prst="rect">
            <a:avLst/>
          </a:prstGeom>
          <a:noFill/>
        </p:spPr>
        <p:txBody>
          <a:bodyPr wrap="square" lIns="0" tIns="0" rIns="0" bIns="0" anchor="t">
            <a:spAutoFit/>
          </a:bodyPr>
          <a:lstStyle/>
          <a:p>
            <a:pPr algn="l"/>
            <a:r>
              <a:rPr sz="1300" b="1" i="0">
                <a:solidFill>
                  <a:srgbClr val="062A4B"/>
                </a:solidFill>
                <a:latin typeface="Arial"/>
              </a:rPr>
              <a:t>Gemini</a:t>
            </a:r>
          </a:p>
        </p:txBody>
      </p:sp>
      <p:sp>
        <p:nvSpPr>
          <p:cNvPr id="45" name="TextBox 44"/>
          <p:cNvSpPr txBox="1"/>
          <p:nvPr/>
        </p:nvSpPr>
        <p:spPr>
          <a:xfrm>
            <a:off x="4572000" y="5138928"/>
            <a:ext cx="3291840" cy="246888"/>
          </a:xfrm>
          <a:prstGeom prst="rect">
            <a:avLst/>
          </a:prstGeom>
          <a:noFill/>
        </p:spPr>
        <p:txBody>
          <a:bodyPr wrap="square" lIns="0" tIns="0" rIns="0" bIns="0" anchor="t">
            <a:spAutoFit/>
          </a:bodyPr>
          <a:lstStyle/>
          <a:p>
            <a:pPr algn="l"/>
            <a:r>
              <a:rPr sz="1000" b="0" i="0">
                <a:solidFill>
                  <a:srgbClr val="8E98B1"/>
                </a:solidFill>
                <a:latin typeface="Arial"/>
              </a:rPr>
              <a:t>Cross-checks · summaries</a:t>
            </a:r>
          </a:p>
        </p:txBody>
      </p:sp>
      <p:sp>
        <p:nvSpPr>
          <p:cNvPr id="46" name="Rectangle 45"/>
          <p:cNvSpPr/>
          <p:nvPr/>
        </p:nvSpPr>
        <p:spPr>
          <a:xfrm>
            <a:off x="4343400" y="548640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343400" y="5486400"/>
            <a:ext cx="91440" cy="566928"/>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0" y="5559552"/>
            <a:ext cx="3291840" cy="228600"/>
          </a:xfrm>
          <a:prstGeom prst="rect">
            <a:avLst/>
          </a:prstGeom>
          <a:noFill/>
        </p:spPr>
        <p:txBody>
          <a:bodyPr wrap="square" lIns="0" tIns="0" rIns="0" bIns="0" anchor="t">
            <a:spAutoFit/>
          </a:bodyPr>
          <a:lstStyle/>
          <a:p>
            <a:pPr algn="l"/>
            <a:r>
              <a:rPr sz="1300" b="1" i="0">
                <a:solidFill>
                  <a:srgbClr val="062A4B"/>
                </a:solidFill>
                <a:latin typeface="Arial"/>
              </a:rPr>
              <a:t>Copilot</a:t>
            </a:r>
          </a:p>
        </p:txBody>
      </p:sp>
      <p:sp>
        <p:nvSpPr>
          <p:cNvPr id="49" name="TextBox 48"/>
          <p:cNvSpPr txBox="1"/>
          <p:nvPr/>
        </p:nvSpPr>
        <p:spPr>
          <a:xfrm>
            <a:off x="4572000" y="5779008"/>
            <a:ext cx="3291840" cy="246888"/>
          </a:xfrm>
          <a:prstGeom prst="rect">
            <a:avLst/>
          </a:prstGeom>
          <a:noFill/>
        </p:spPr>
        <p:txBody>
          <a:bodyPr wrap="square" lIns="0" tIns="0" rIns="0" bIns="0" anchor="t">
            <a:spAutoFit/>
          </a:bodyPr>
          <a:lstStyle/>
          <a:p>
            <a:pPr algn="l"/>
            <a:r>
              <a:rPr sz="1000" b="0" i="0">
                <a:solidFill>
                  <a:srgbClr val="8E98B1"/>
                </a:solidFill>
                <a:latin typeface="Arial"/>
              </a:rPr>
              <a:t>Inline suggestions</a:t>
            </a:r>
          </a:p>
        </p:txBody>
      </p:sp>
      <p:sp>
        <p:nvSpPr>
          <p:cNvPr id="50" name="Rectangle 49"/>
          <p:cNvSpPr/>
          <p:nvPr/>
        </p:nvSpPr>
        <p:spPr>
          <a:xfrm>
            <a:off x="8138160" y="2331720"/>
            <a:ext cx="2377440" cy="365760"/>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138160" y="2331720"/>
            <a:ext cx="2377440" cy="365760"/>
          </a:xfrm>
          <a:prstGeom prst="rect">
            <a:avLst/>
          </a:prstGeom>
          <a:noFill/>
        </p:spPr>
        <p:txBody>
          <a:bodyPr wrap="square" lIns="0" tIns="0" rIns="0" bIns="0" anchor="ctr">
            <a:spAutoFit/>
          </a:bodyPr>
          <a:lstStyle/>
          <a:p>
            <a:pPr algn="ctr"/>
            <a:r>
              <a:rPr sz="1100" b="1" i="0" spc="600">
                <a:solidFill>
                  <a:srgbClr val="062A4B"/>
                </a:solidFill>
                <a:latin typeface="Arial"/>
              </a:rPr>
              <a:t>TEAM TOOLING</a:t>
            </a:r>
          </a:p>
        </p:txBody>
      </p:sp>
      <p:sp>
        <p:nvSpPr>
          <p:cNvPr id="52" name="Rectangle 51"/>
          <p:cNvSpPr/>
          <p:nvPr/>
        </p:nvSpPr>
        <p:spPr>
          <a:xfrm>
            <a:off x="8138160" y="292608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138160" y="2926080"/>
            <a:ext cx="91440" cy="566928"/>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66760" y="2999232"/>
            <a:ext cx="3291840" cy="228600"/>
          </a:xfrm>
          <a:prstGeom prst="rect">
            <a:avLst/>
          </a:prstGeom>
          <a:noFill/>
        </p:spPr>
        <p:txBody>
          <a:bodyPr wrap="square" lIns="0" tIns="0" rIns="0" bIns="0" anchor="t">
            <a:spAutoFit/>
          </a:bodyPr>
          <a:lstStyle/>
          <a:p>
            <a:pPr algn="l"/>
            <a:r>
              <a:rPr sz="1300" b="1" i="0">
                <a:solidFill>
                  <a:srgbClr val="062A4B"/>
                </a:solidFill>
                <a:latin typeface="Arial"/>
              </a:rPr>
              <a:t>VS Code · Docker</a:t>
            </a:r>
          </a:p>
        </p:txBody>
      </p:sp>
      <p:sp>
        <p:nvSpPr>
          <p:cNvPr id="55" name="TextBox 54"/>
          <p:cNvSpPr txBox="1"/>
          <p:nvPr/>
        </p:nvSpPr>
        <p:spPr>
          <a:xfrm>
            <a:off x="8366760" y="3218688"/>
            <a:ext cx="3291840" cy="246888"/>
          </a:xfrm>
          <a:prstGeom prst="rect">
            <a:avLst/>
          </a:prstGeom>
          <a:noFill/>
        </p:spPr>
        <p:txBody>
          <a:bodyPr wrap="square" lIns="0" tIns="0" rIns="0" bIns="0" anchor="t">
            <a:spAutoFit/>
          </a:bodyPr>
          <a:lstStyle/>
          <a:p>
            <a:pPr algn="l"/>
            <a:r>
              <a:rPr sz="1000" b="0" i="0">
                <a:solidFill>
                  <a:srgbClr val="8E98B1"/>
                </a:solidFill>
                <a:latin typeface="Arial"/>
              </a:rPr>
              <a:t>Local dev environment</a:t>
            </a:r>
          </a:p>
        </p:txBody>
      </p:sp>
      <p:sp>
        <p:nvSpPr>
          <p:cNvPr id="56" name="Rectangle 55"/>
          <p:cNvSpPr/>
          <p:nvPr/>
        </p:nvSpPr>
        <p:spPr>
          <a:xfrm>
            <a:off x="8138160" y="356616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138160" y="3566160"/>
            <a:ext cx="91440" cy="566928"/>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366760" y="3639312"/>
            <a:ext cx="3291840" cy="228600"/>
          </a:xfrm>
          <a:prstGeom prst="rect">
            <a:avLst/>
          </a:prstGeom>
          <a:noFill/>
        </p:spPr>
        <p:txBody>
          <a:bodyPr wrap="square" lIns="0" tIns="0" rIns="0" bIns="0" anchor="t">
            <a:spAutoFit/>
          </a:bodyPr>
          <a:lstStyle/>
          <a:p>
            <a:pPr algn="l"/>
            <a:r>
              <a:rPr sz="1300" b="1" i="0">
                <a:solidFill>
                  <a:srgbClr val="062A4B"/>
                </a:solidFill>
                <a:latin typeface="Arial"/>
              </a:rPr>
              <a:t>Git · Bitbucket</a:t>
            </a:r>
          </a:p>
        </p:txBody>
      </p:sp>
      <p:sp>
        <p:nvSpPr>
          <p:cNvPr id="59" name="TextBox 58"/>
          <p:cNvSpPr txBox="1"/>
          <p:nvPr/>
        </p:nvSpPr>
        <p:spPr>
          <a:xfrm>
            <a:off x="8366760" y="3858768"/>
            <a:ext cx="3291840" cy="246888"/>
          </a:xfrm>
          <a:prstGeom prst="rect">
            <a:avLst/>
          </a:prstGeom>
          <a:noFill/>
        </p:spPr>
        <p:txBody>
          <a:bodyPr wrap="square" lIns="0" tIns="0" rIns="0" bIns="0" anchor="t">
            <a:spAutoFit/>
          </a:bodyPr>
          <a:lstStyle/>
          <a:p>
            <a:pPr algn="l"/>
            <a:r>
              <a:rPr sz="1000" b="0" i="0">
                <a:solidFill>
                  <a:srgbClr val="8E98B1"/>
                </a:solidFill>
                <a:latin typeface="Arial"/>
              </a:rPr>
              <a:t>Version control · PRs</a:t>
            </a:r>
          </a:p>
        </p:txBody>
      </p:sp>
      <p:sp>
        <p:nvSpPr>
          <p:cNvPr id="60" name="Rectangle 59"/>
          <p:cNvSpPr/>
          <p:nvPr/>
        </p:nvSpPr>
        <p:spPr>
          <a:xfrm>
            <a:off x="8138160" y="4206240"/>
            <a:ext cx="3657600" cy="566928"/>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8138160" y="4206240"/>
            <a:ext cx="91440" cy="566928"/>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66760" y="4279392"/>
            <a:ext cx="3291840" cy="200055"/>
          </a:xfrm>
          <a:prstGeom prst="rect">
            <a:avLst/>
          </a:prstGeom>
          <a:noFill/>
        </p:spPr>
        <p:txBody>
          <a:bodyPr wrap="square" lIns="0" tIns="0" rIns="0" bIns="0" anchor="t">
            <a:spAutoFit/>
          </a:bodyPr>
          <a:lstStyle/>
          <a:p>
            <a:pPr algn="l"/>
            <a:r>
              <a:rPr sz="1300" b="1" i="0">
                <a:solidFill>
                  <a:srgbClr val="062A4B"/>
                </a:solidFill>
                <a:latin typeface="Arial"/>
              </a:rPr>
              <a:t>Slack · </a:t>
            </a:r>
            <a:r>
              <a:rPr lang="en-US" sz="1300" b="1">
                <a:solidFill>
                  <a:srgbClr val="062A4B"/>
                </a:solidFill>
                <a:latin typeface="Arial"/>
              </a:rPr>
              <a:t>Discord</a:t>
            </a:r>
            <a:endParaRPr sz="1300" b="1" i="0">
              <a:solidFill>
                <a:srgbClr val="062A4B"/>
              </a:solidFill>
              <a:latin typeface="Arial"/>
            </a:endParaRPr>
          </a:p>
        </p:txBody>
      </p:sp>
      <p:sp>
        <p:nvSpPr>
          <p:cNvPr id="63" name="TextBox 62"/>
          <p:cNvSpPr txBox="1"/>
          <p:nvPr/>
        </p:nvSpPr>
        <p:spPr>
          <a:xfrm>
            <a:off x="8366760" y="4498848"/>
            <a:ext cx="3291840" cy="246888"/>
          </a:xfrm>
          <a:prstGeom prst="rect">
            <a:avLst/>
          </a:prstGeom>
          <a:noFill/>
        </p:spPr>
        <p:txBody>
          <a:bodyPr wrap="square" lIns="0" tIns="0" rIns="0" bIns="0" anchor="t">
            <a:spAutoFit/>
          </a:bodyPr>
          <a:lstStyle/>
          <a:p>
            <a:pPr algn="l"/>
            <a:r>
              <a:rPr sz="1000" b="0" i="0">
                <a:solidFill>
                  <a:srgbClr val="8E98B1"/>
                </a:solidFill>
                <a:latin typeface="Arial"/>
              </a:rPr>
              <a:t>Communication</a:t>
            </a:r>
          </a:p>
        </p:txBody>
      </p:sp>
      <p:sp>
        <p:nvSpPr>
          <p:cNvPr id="64" name="TextBox 63"/>
          <p:cNvSpPr txBox="1"/>
          <p:nvPr/>
        </p:nvSpPr>
        <p:spPr>
          <a:xfrm>
            <a:off x="548640" y="6035040"/>
            <a:ext cx="10972800" cy="274320"/>
          </a:xfrm>
          <a:prstGeom prst="rect">
            <a:avLst/>
          </a:prstGeom>
          <a:noFill/>
        </p:spPr>
        <p:txBody>
          <a:bodyPr wrap="square" lIns="0" tIns="0" rIns="0" bIns="0" anchor="t">
            <a:spAutoFit/>
          </a:bodyPr>
          <a:lstStyle/>
          <a:p>
            <a:pPr algn="ctr"/>
            <a:r>
              <a:rPr sz="1100" b="0" i="1" spc="200">
                <a:solidFill>
                  <a:srgbClr val="8E98B1"/>
                </a:solidFill>
                <a:latin typeface="Arial"/>
              </a:rPr>
              <a:t>Frontend-only migration  ·  backend services were untouched</a:t>
            </a:r>
          </a:p>
        </p:txBody>
      </p:sp>
      <p:sp>
        <p:nvSpPr>
          <p:cNvPr id="65" name="Rectangle 64"/>
          <p:cNvSpPr/>
          <p:nvPr/>
        </p:nvSpPr>
        <p:spPr>
          <a:xfrm>
            <a:off x="0" y="6537960"/>
            <a:ext cx="12192000" cy="3200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65760" y="6565392"/>
            <a:ext cx="2286000" cy="274320"/>
          </a:xfrm>
          <a:prstGeom prst="rect">
            <a:avLst/>
          </a:prstGeom>
          <a:noFill/>
        </p:spPr>
        <p:txBody>
          <a:bodyPr wrap="square" lIns="0" tIns="0" rIns="0" bIns="0" anchor="ctr">
            <a:spAutoFit/>
          </a:bodyPr>
          <a:lstStyle/>
          <a:p>
            <a:pPr algn="l"/>
            <a:r>
              <a:rPr sz="1000" b="0" i="0">
                <a:solidFill>
                  <a:srgbClr val="FFFFFF"/>
                </a:solidFill>
                <a:latin typeface="Arial"/>
              </a:rPr>
              <a:t>Copyright 2026</a:t>
            </a:r>
          </a:p>
        </p:txBody>
      </p:sp>
      <p:sp>
        <p:nvSpPr>
          <p:cNvPr id="67" name="TextBox 66"/>
          <p:cNvSpPr txBox="1"/>
          <p:nvPr/>
        </p:nvSpPr>
        <p:spPr>
          <a:xfrm>
            <a:off x="11430000" y="6565392"/>
            <a:ext cx="548640" cy="274320"/>
          </a:xfrm>
          <a:prstGeom prst="rect">
            <a:avLst/>
          </a:prstGeom>
          <a:noFill/>
        </p:spPr>
        <p:txBody>
          <a:bodyPr wrap="square" lIns="0" tIns="0" rIns="0" bIns="0" anchor="ctr">
            <a:spAutoFit/>
          </a:bodyPr>
          <a:lstStyle/>
          <a:p>
            <a:pPr algn="r"/>
            <a:r>
              <a:rPr sz="1000" b="0" i="0">
                <a:solidFill>
                  <a:srgbClr val="FFFFFF"/>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4"/>
          </p:nvPr>
        </p:nvSpPr>
        <p:spPr/>
        <p:txBody>
          <a:bodyPr/>
          <a:lstStyle/>
          <a:p>
            <a:endParaRPr/>
          </a:p>
        </p:txBody>
      </p:sp>
      <p:sp>
        <p:nvSpPr>
          <p:cNvPr id="5" name="Text Placeholder 4"/>
          <p:cNvSpPr>
            <a:spLocks noGrp="1"/>
          </p:cNvSpPr>
          <p:nvPr>
            <p:ph type="body" sz="quarter" idx="15"/>
          </p:nvPr>
        </p:nvSpPr>
        <p:spPr/>
        <p:txBody>
          <a:bodyPr/>
          <a:lstStyle/>
          <a:p>
            <a:endParaRPr/>
          </a:p>
        </p:txBody>
      </p:sp>
      <p:sp>
        <p:nvSpPr>
          <p:cNvPr id="6" name="Rectangle 5"/>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915394" y="0"/>
            <a:ext cx="276606" cy="276606"/>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362182" y="0"/>
            <a:ext cx="553212" cy="276606"/>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362182" y="276606"/>
            <a:ext cx="276606" cy="276606"/>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085576" y="276606"/>
            <a:ext cx="276606" cy="276606"/>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411480"/>
            <a:ext cx="7315200" cy="292608"/>
          </a:xfrm>
          <a:prstGeom prst="rect">
            <a:avLst/>
          </a:prstGeom>
          <a:noFill/>
        </p:spPr>
        <p:txBody>
          <a:bodyPr wrap="square" lIns="0" tIns="0" rIns="0" bIns="0" anchor="t">
            <a:spAutoFit/>
          </a:bodyPr>
          <a:lstStyle/>
          <a:p>
            <a:pPr algn="l"/>
            <a:r>
              <a:rPr sz="1100" b="1" i="0" spc="800">
                <a:solidFill>
                  <a:srgbClr val="1863DC"/>
                </a:solidFill>
                <a:latin typeface="Arial"/>
              </a:rPr>
              <a:t>WHAT WE HIT  ·  HOW WE GOT THROUGH</a:t>
            </a:r>
          </a:p>
        </p:txBody>
      </p:sp>
      <p:sp>
        <p:nvSpPr>
          <p:cNvPr id="12" name="TextBox 11"/>
          <p:cNvSpPr txBox="1"/>
          <p:nvPr/>
        </p:nvSpPr>
        <p:spPr>
          <a:xfrm>
            <a:off x="548640" y="713232"/>
            <a:ext cx="10972800" cy="868680"/>
          </a:xfrm>
          <a:prstGeom prst="rect">
            <a:avLst/>
          </a:prstGeom>
          <a:noFill/>
        </p:spPr>
        <p:txBody>
          <a:bodyPr wrap="square" lIns="0" tIns="0" rIns="0" bIns="0" anchor="t">
            <a:spAutoFit/>
          </a:bodyPr>
          <a:lstStyle/>
          <a:p>
            <a:pPr algn="l"/>
            <a:r>
              <a:rPr sz="3600" b="1" i="0">
                <a:solidFill>
                  <a:srgbClr val="062A4B"/>
                </a:solidFill>
                <a:latin typeface="Arial"/>
              </a:rPr>
              <a:t>Challenges We Faced</a:t>
            </a:r>
          </a:p>
        </p:txBody>
      </p:sp>
      <p:sp>
        <p:nvSpPr>
          <p:cNvPr id="13" name="TextBox 12"/>
          <p:cNvSpPr txBox="1"/>
          <p:nvPr/>
        </p:nvSpPr>
        <p:spPr>
          <a:xfrm>
            <a:off x="548640" y="1691640"/>
            <a:ext cx="10972800" cy="200055"/>
          </a:xfrm>
          <a:prstGeom prst="rect">
            <a:avLst/>
          </a:prstGeom>
          <a:noFill/>
        </p:spPr>
        <p:txBody>
          <a:bodyPr wrap="square" lIns="0" tIns="0" rIns="0" bIns="0" anchor="t">
            <a:spAutoFit/>
          </a:bodyPr>
          <a:lstStyle/>
          <a:p>
            <a:pPr algn="l"/>
            <a:r>
              <a:rPr sz="1300" b="0" i="0">
                <a:solidFill>
                  <a:srgbClr val="8E98B1"/>
                </a:solidFill>
                <a:latin typeface="Arial"/>
              </a:rPr>
              <a:t>The hardest parts of the migration and how we worked through them.</a:t>
            </a:r>
          </a:p>
        </p:txBody>
      </p:sp>
      <p:sp>
        <p:nvSpPr>
          <p:cNvPr id="14" name="Rectangle 13"/>
          <p:cNvSpPr/>
          <p:nvPr/>
        </p:nvSpPr>
        <p:spPr>
          <a:xfrm>
            <a:off x="548640" y="2286000"/>
            <a:ext cx="3553968" cy="18653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2286000"/>
            <a:ext cx="3553968" cy="9144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 y="2606040"/>
            <a:ext cx="502920" cy="50292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2606040"/>
            <a:ext cx="502920" cy="502920"/>
          </a:xfrm>
          <a:prstGeom prst="rect">
            <a:avLst/>
          </a:prstGeom>
          <a:noFill/>
        </p:spPr>
        <p:txBody>
          <a:bodyPr wrap="square" lIns="0" tIns="0" rIns="0" bIns="0" anchor="ctr">
            <a:spAutoFit/>
          </a:bodyPr>
          <a:lstStyle/>
          <a:p>
            <a:pPr algn="ctr"/>
            <a:r>
              <a:rPr sz="1800" b="1" i="0">
                <a:solidFill>
                  <a:srgbClr val="062A4B"/>
                </a:solidFill>
                <a:latin typeface="Arial"/>
              </a:rPr>
              <a:t>1</a:t>
            </a:r>
          </a:p>
        </p:txBody>
      </p:sp>
      <p:sp>
        <p:nvSpPr>
          <p:cNvPr id="18" name="TextBox 17"/>
          <p:cNvSpPr txBox="1"/>
          <p:nvPr/>
        </p:nvSpPr>
        <p:spPr>
          <a:xfrm>
            <a:off x="1508760" y="2606040"/>
            <a:ext cx="2365248" cy="548640"/>
          </a:xfrm>
          <a:prstGeom prst="rect">
            <a:avLst/>
          </a:prstGeom>
          <a:noFill/>
        </p:spPr>
        <p:txBody>
          <a:bodyPr wrap="square" lIns="0" tIns="0" rIns="0" bIns="0" anchor="ctr">
            <a:spAutoFit/>
          </a:bodyPr>
          <a:lstStyle/>
          <a:p>
            <a:pPr algn="l"/>
            <a:r>
              <a:rPr sz="1600" b="1" i="0">
                <a:solidFill>
                  <a:srgbClr val="062A4B"/>
                </a:solidFill>
                <a:latin typeface="Arial"/>
              </a:rPr>
              <a:t>Legacy Ember Code</a:t>
            </a:r>
          </a:p>
        </p:txBody>
      </p:sp>
      <p:sp>
        <p:nvSpPr>
          <p:cNvPr id="19" name="TextBox 18"/>
          <p:cNvSpPr txBox="1"/>
          <p:nvPr/>
        </p:nvSpPr>
        <p:spPr>
          <a:xfrm>
            <a:off x="822960" y="3291840"/>
            <a:ext cx="3005328" cy="484748"/>
          </a:xfrm>
          <a:prstGeom prst="rect">
            <a:avLst/>
          </a:prstGeom>
          <a:noFill/>
        </p:spPr>
        <p:txBody>
          <a:bodyPr wrap="square" lIns="0" tIns="0" rIns="0" bIns="0" anchor="t">
            <a:spAutoFit/>
          </a:bodyPr>
          <a:lstStyle/>
          <a:p>
            <a:pPr algn="l"/>
            <a:r>
              <a:rPr sz="1050" b="0" i="0">
                <a:solidFill>
                  <a:srgbClr val="212121"/>
                </a:solidFill>
                <a:latin typeface="Arial"/>
              </a:rPr>
              <a:t>Hash-based routing, computed properties, nested templates no direct React equivalent. Reverse-engineered each screen before rewriting.</a:t>
            </a:r>
          </a:p>
        </p:txBody>
      </p:sp>
      <p:sp>
        <p:nvSpPr>
          <p:cNvPr id="20" name="Rectangle 19"/>
          <p:cNvSpPr/>
          <p:nvPr/>
        </p:nvSpPr>
        <p:spPr>
          <a:xfrm>
            <a:off x="4303776" y="2286000"/>
            <a:ext cx="3553968" cy="18653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03776" y="2286000"/>
            <a:ext cx="3553968" cy="91440"/>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8096" y="2606040"/>
            <a:ext cx="502920" cy="502920"/>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8096" y="2606040"/>
            <a:ext cx="502920" cy="502920"/>
          </a:xfrm>
          <a:prstGeom prst="rect">
            <a:avLst/>
          </a:prstGeom>
          <a:noFill/>
        </p:spPr>
        <p:txBody>
          <a:bodyPr wrap="square" lIns="0" tIns="0" rIns="0" bIns="0" anchor="ctr">
            <a:spAutoFit/>
          </a:bodyPr>
          <a:lstStyle/>
          <a:p>
            <a:pPr algn="ctr"/>
            <a:r>
              <a:rPr sz="1800" b="1" i="0">
                <a:solidFill>
                  <a:srgbClr val="062A4B"/>
                </a:solidFill>
                <a:latin typeface="Arial"/>
              </a:rPr>
              <a:t>2</a:t>
            </a:r>
          </a:p>
        </p:txBody>
      </p:sp>
      <p:sp>
        <p:nvSpPr>
          <p:cNvPr id="24" name="TextBox 23"/>
          <p:cNvSpPr txBox="1"/>
          <p:nvPr/>
        </p:nvSpPr>
        <p:spPr>
          <a:xfrm>
            <a:off x="5263896" y="2606040"/>
            <a:ext cx="2365248" cy="548640"/>
          </a:xfrm>
          <a:prstGeom prst="rect">
            <a:avLst/>
          </a:prstGeom>
          <a:noFill/>
        </p:spPr>
        <p:txBody>
          <a:bodyPr wrap="square" lIns="0" tIns="0" rIns="0" bIns="0" anchor="ctr">
            <a:spAutoFit/>
          </a:bodyPr>
          <a:lstStyle/>
          <a:p>
            <a:pPr algn="l"/>
            <a:r>
              <a:rPr sz="1600" b="1" i="0">
                <a:solidFill>
                  <a:srgbClr val="062A4B"/>
                </a:solidFill>
                <a:latin typeface="Arial"/>
              </a:rPr>
              <a:t>Matching UI Styling</a:t>
            </a:r>
          </a:p>
        </p:txBody>
      </p:sp>
      <p:sp>
        <p:nvSpPr>
          <p:cNvPr id="25" name="TextBox 24"/>
          <p:cNvSpPr txBox="1"/>
          <p:nvPr/>
        </p:nvSpPr>
        <p:spPr>
          <a:xfrm>
            <a:off x="4578096" y="3291840"/>
            <a:ext cx="3005328" cy="484748"/>
          </a:xfrm>
          <a:prstGeom prst="rect">
            <a:avLst/>
          </a:prstGeom>
          <a:noFill/>
        </p:spPr>
        <p:txBody>
          <a:bodyPr wrap="square" lIns="0" tIns="0" rIns="0" bIns="0" anchor="t">
            <a:spAutoFit/>
          </a:bodyPr>
          <a:lstStyle/>
          <a:p>
            <a:pPr algn="l"/>
            <a:r>
              <a:rPr sz="1050" b="0" i="0">
                <a:solidFill>
                  <a:srgbClr val="212121"/>
                </a:solidFill>
                <a:latin typeface="Arial"/>
              </a:rPr>
              <a:t>Ensuring React screens looked identical to Ember</a:t>
            </a:r>
            <a:r>
              <a:rPr lang="en-US" sz="1050" b="0" i="0">
                <a:solidFill>
                  <a:srgbClr val="212121"/>
                </a:solidFill>
                <a:latin typeface="Arial"/>
              </a:rPr>
              <a:t> </a:t>
            </a:r>
            <a:r>
              <a:rPr sz="1050" b="0" i="0">
                <a:solidFill>
                  <a:srgbClr val="212121"/>
                </a:solidFill>
                <a:latin typeface="Arial"/>
              </a:rPr>
              <a:t>same fonts, spacing, Bootstrap classes. Small visual diffs required multiple iterations.</a:t>
            </a:r>
          </a:p>
        </p:txBody>
      </p:sp>
      <p:sp>
        <p:nvSpPr>
          <p:cNvPr id="26" name="Rectangle 25"/>
          <p:cNvSpPr/>
          <p:nvPr/>
        </p:nvSpPr>
        <p:spPr>
          <a:xfrm>
            <a:off x="8058912" y="2286000"/>
            <a:ext cx="3553968" cy="18653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58912" y="2286000"/>
            <a:ext cx="3553968" cy="91440"/>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333232" y="2606040"/>
            <a:ext cx="502920" cy="502920"/>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33232" y="2606040"/>
            <a:ext cx="502920" cy="502920"/>
          </a:xfrm>
          <a:prstGeom prst="rect">
            <a:avLst/>
          </a:prstGeom>
          <a:noFill/>
        </p:spPr>
        <p:txBody>
          <a:bodyPr wrap="square" lIns="0" tIns="0" rIns="0" bIns="0" anchor="ctr">
            <a:spAutoFit/>
          </a:bodyPr>
          <a:lstStyle/>
          <a:p>
            <a:pPr algn="ctr"/>
            <a:r>
              <a:rPr sz="1800" b="1" i="0">
                <a:solidFill>
                  <a:srgbClr val="062A4B"/>
                </a:solidFill>
                <a:latin typeface="Arial"/>
              </a:rPr>
              <a:t>3</a:t>
            </a:r>
          </a:p>
        </p:txBody>
      </p:sp>
      <p:sp>
        <p:nvSpPr>
          <p:cNvPr id="30" name="TextBox 29"/>
          <p:cNvSpPr txBox="1"/>
          <p:nvPr/>
        </p:nvSpPr>
        <p:spPr>
          <a:xfrm>
            <a:off x="9019032" y="2606040"/>
            <a:ext cx="2365248" cy="548640"/>
          </a:xfrm>
          <a:prstGeom prst="rect">
            <a:avLst/>
          </a:prstGeom>
          <a:noFill/>
        </p:spPr>
        <p:txBody>
          <a:bodyPr wrap="square" lIns="0" tIns="0" rIns="0" bIns="0" anchor="ctr">
            <a:spAutoFit/>
          </a:bodyPr>
          <a:lstStyle/>
          <a:p>
            <a:pPr algn="l"/>
            <a:r>
              <a:rPr sz="1600" b="1" i="0">
                <a:solidFill>
                  <a:srgbClr val="062A4B"/>
                </a:solidFill>
                <a:latin typeface="Arial"/>
              </a:rPr>
              <a:t>Merge Conflicts</a:t>
            </a:r>
          </a:p>
        </p:txBody>
      </p:sp>
      <p:sp>
        <p:nvSpPr>
          <p:cNvPr id="31" name="TextBox 30"/>
          <p:cNvSpPr txBox="1"/>
          <p:nvPr/>
        </p:nvSpPr>
        <p:spPr>
          <a:xfrm>
            <a:off x="8333232" y="3291840"/>
            <a:ext cx="3005328" cy="676656"/>
          </a:xfrm>
          <a:prstGeom prst="rect">
            <a:avLst/>
          </a:prstGeom>
          <a:noFill/>
        </p:spPr>
        <p:txBody>
          <a:bodyPr wrap="square" lIns="0" tIns="0" rIns="0" bIns="0" anchor="t">
            <a:spAutoFit/>
          </a:bodyPr>
          <a:lstStyle/>
          <a:p>
            <a:pPr algn="l"/>
            <a:r>
              <a:rPr sz="1050" b="0" i="0">
                <a:solidFill>
                  <a:srgbClr val="212121"/>
                </a:solidFill>
                <a:latin typeface="Arial"/>
              </a:rPr>
              <a:t>Shared files (AppRouter.js, SettingsShell.js, en.json) modified simultaneously. Constant rebasing, communication, and coordination.</a:t>
            </a:r>
          </a:p>
        </p:txBody>
      </p:sp>
      <p:sp>
        <p:nvSpPr>
          <p:cNvPr id="32" name="Rectangle 31"/>
          <p:cNvSpPr/>
          <p:nvPr/>
        </p:nvSpPr>
        <p:spPr>
          <a:xfrm>
            <a:off x="548640" y="4352544"/>
            <a:ext cx="3553968" cy="18653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48640" y="4352544"/>
            <a:ext cx="3553968" cy="9144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22960" y="4672584"/>
            <a:ext cx="502920" cy="502920"/>
          </a:xfrm>
          <a:prstGeom prst="rect">
            <a:avLst/>
          </a:prstGeom>
          <a:solidFill>
            <a:srgbClr val="AFC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4672584"/>
            <a:ext cx="502920" cy="502920"/>
          </a:xfrm>
          <a:prstGeom prst="rect">
            <a:avLst/>
          </a:prstGeom>
          <a:noFill/>
        </p:spPr>
        <p:txBody>
          <a:bodyPr wrap="square" lIns="0" tIns="0" rIns="0" bIns="0" anchor="ctr">
            <a:spAutoFit/>
          </a:bodyPr>
          <a:lstStyle/>
          <a:p>
            <a:pPr algn="ctr"/>
            <a:r>
              <a:rPr sz="1800" b="1" i="0">
                <a:solidFill>
                  <a:srgbClr val="062A4B"/>
                </a:solidFill>
                <a:latin typeface="Arial"/>
              </a:rPr>
              <a:t>4</a:t>
            </a:r>
          </a:p>
        </p:txBody>
      </p:sp>
      <p:sp>
        <p:nvSpPr>
          <p:cNvPr id="36" name="TextBox 35"/>
          <p:cNvSpPr txBox="1"/>
          <p:nvPr/>
        </p:nvSpPr>
        <p:spPr>
          <a:xfrm>
            <a:off x="1508760" y="4672584"/>
            <a:ext cx="2365248" cy="548640"/>
          </a:xfrm>
          <a:prstGeom prst="rect">
            <a:avLst/>
          </a:prstGeom>
          <a:noFill/>
        </p:spPr>
        <p:txBody>
          <a:bodyPr wrap="square" lIns="0" tIns="0" rIns="0" bIns="0" anchor="ctr">
            <a:spAutoFit/>
          </a:bodyPr>
          <a:lstStyle/>
          <a:p>
            <a:pPr algn="l"/>
            <a:r>
              <a:rPr sz="1600" b="1" i="0">
                <a:solidFill>
                  <a:srgbClr val="062A4B"/>
                </a:solidFill>
                <a:latin typeface="Arial"/>
              </a:rPr>
              <a:t>PR Review Cycles</a:t>
            </a:r>
          </a:p>
        </p:txBody>
      </p:sp>
      <p:sp>
        <p:nvSpPr>
          <p:cNvPr id="37" name="TextBox 36"/>
          <p:cNvSpPr txBox="1"/>
          <p:nvPr/>
        </p:nvSpPr>
        <p:spPr>
          <a:xfrm>
            <a:off x="822960" y="5358384"/>
            <a:ext cx="3005328" cy="676656"/>
          </a:xfrm>
          <a:prstGeom prst="rect">
            <a:avLst/>
          </a:prstGeom>
          <a:noFill/>
        </p:spPr>
        <p:txBody>
          <a:bodyPr wrap="square" lIns="0" tIns="0" rIns="0" bIns="0" anchor="t">
            <a:spAutoFit/>
          </a:bodyPr>
          <a:lstStyle/>
          <a:p>
            <a:pPr algn="l"/>
            <a:r>
              <a:rPr sz="1050" b="0" i="0">
                <a:solidFill>
                  <a:srgbClr val="212121"/>
                </a:solidFill>
                <a:latin typeface="Arial"/>
              </a:rPr>
              <a:t>Multiple rounds of change requests under a tight deadline. Learned to write clean, reviewable code while keeping development velocity high.</a:t>
            </a:r>
          </a:p>
        </p:txBody>
      </p:sp>
      <p:sp>
        <p:nvSpPr>
          <p:cNvPr id="38" name="Rectangle 37"/>
          <p:cNvSpPr/>
          <p:nvPr/>
        </p:nvSpPr>
        <p:spPr>
          <a:xfrm>
            <a:off x="4303776" y="4352544"/>
            <a:ext cx="3553968" cy="18653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303776" y="4352544"/>
            <a:ext cx="3553968" cy="91440"/>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578096" y="4672584"/>
            <a:ext cx="502920" cy="502920"/>
          </a:xfrm>
          <a:prstGeom prst="rect">
            <a:avLst/>
          </a:prstGeom>
          <a:solidFill>
            <a:srgbClr val="A7F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78096" y="4672584"/>
            <a:ext cx="502920" cy="502920"/>
          </a:xfrm>
          <a:prstGeom prst="rect">
            <a:avLst/>
          </a:prstGeom>
          <a:noFill/>
        </p:spPr>
        <p:txBody>
          <a:bodyPr wrap="square" lIns="0" tIns="0" rIns="0" bIns="0" anchor="ctr">
            <a:spAutoFit/>
          </a:bodyPr>
          <a:lstStyle/>
          <a:p>
            <a:pPr algn="ctr"/>
            <a:r>
              <a:rPr sz="1800" b="1" i="0">
                <a:solidFill>
                  <a:srgbClr val="062A4B"/>
                </a:solidFill>
                <a:latin typeface="Arial"/>
              </a:rPr>
              <a:t>5</a:t>
            </a:r>
          </a:p>
        </p:txBody>
      </p:sp>
      <p:sp>
        <p:nvSpPr>
          <p:cNvPr id="42" name="TextBox 41"/>
          <p:cNvSpPr txBox="1"/>
          <p:nvPr/>
        </p:nvSpPr>
        <p:spPr>
          <a:xfrm>
            <a:off x="5263896" y="4672584"/>
            <a:ext cx="2365248" cy="548640"/>
          </a:xfrm>
          <a:prstGeom prst="rect">
            <a:avLst/>
          </a:prstGeom>
          <a:noFill/>
        </p:spPr>
        <p:txBody>
          <a:bodyPr wrap="square" lIns="0" tIns="0" rIns="0" bIns="0" anchor="ctr">
            <a:spAutoFit/>
          </a:bodyPr>
          <a:lstStyle/>
          <a:p>
            <a:pPr algn="l"/>
            <a:r>
              <a:rPr sz="1600" b="1" i="0">
                <a:solidFill>
                  <a:srgbClr val="062A4B"/>
                </a:solidFill>
                <a:latin typeface="Arial"/>
              </a:rPr>
              <a:t>Testing Two Roles</a:t>
            </a:r>
          </a:p>
        </p:txBody>
      </p:sp>
      <p:sp>
        <p:nvSpPr>
          <p:cNvPr id="43" name="TextBox 42"/>
          <p:cNvSpPr txBox="1"/>
          <p:nvPr/>
        </p:nvSpPr>
        <p:spPr>
          <a:xfrm>
            <a:off x="4578096" y="5358384"/>
            <a:ext cx="3005328" cy="484748"/>
          </a:xfrm>
          <a:prstGeom prst="rect">
            <a:avLst/>
          </a:prstGeom>
          <a:noFill/>
        </p:spPr>
        <p:txBody>
          <a:bodyPr wrap="square" lIns="0" tIns="0" rIns="0" bIns="0" anchor="t">
            <a:spAutoFit/>
          </a:bodyPr>
          <a:lstStyle/>
          <a:p>
            <a:pPr algn="l"/>
            <a:r>
              <a:rPr sz="1050" b="0" i="0">
                <a:solidFill>
                  <a:srgbClr val="212121"/>
                </a:solidFill>
                <a:latin typeface="Arial"/>
              </a:rPr>
              <a:t>Features behave differently per user role. Mocked biller and payer scenarios </a:t>
            </a:r>
            <a:r>
              <a:rPr lang="en-US" sz="1050">
                <a:solidFill>
                  <a:srgbClr val="212121"/>
                </a:solidFill>
                <a:latin typeface="Arial"/>
              </a:rPr>
              <a:t>team</a:t>
            </a:r>
            <a:r>
              <a:rPr sz="1050" b="0" i="0">
                <a:solidFill>
                  <a:srgbClr val="212121"/>
                </a:solidFill>
                <a:latin typeface="Arial"/>
              </a:rPr>
              <a:t> stand-ups clarified expected behavior per screen.</a:t>
            </a:r>
          </a:p>
        </p:txBody>
      </p:sp>
      <p:sp>
        <p:nvSpPr>
          <p:cNvPr id="44" name="Rectangle 43"/>
          <p:cNvSpPr/>
          <p:nvPr/>
        </p:nvSpPr>
        <p:spPr>
          <a:xfrm>
            <a:off x="8058912" y="4352544"/>
            <a:ext cx="3553968" cy="1865376"/>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58912" y="4352544"/>
            <a:ext cx="3553968" cy="91440"/>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333232" y="4672584"/>
            <a:ext cx="502920" cy="502920"/>
          </a:xfrm>
          <a:prstGeom prst="rect">
            <a:avLst/>
          </a:prstGeom>
          <a:solidFill>
            <a:srgbClr val="DEC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333232" y="4672584"/>
            <a:ext cx="502920" cy="502920"/>
          </a:xfrm>
          <a:prstGeom prst="rect">
            <a:avLst/>
          </a:prstGeom>
          <a:noFill/>
        </p:spPr>
        <p:txBody>
          <a:bodyPr wrap="square" lIns="0" tIns="0" rIns="0" bIns="0" anchor="ctr">
            <a:spAutoFit/>
          </a:bodyPr>
          <a:lstStyle/>
          <a:p>
            <a:pPr algn="ctr"/>
            <a:r>
              <a:rPr sz="1800" b="1" i="0">
                <a:solidFill>
                  <a:srgbClr val="062A4B"/>
                </a:solidFill>
                <a:latin typeface="Arial"/>
              </a:rPr>
              <a:t>6</a:t>
            </a:r>
          </a:p>
        </p:txBody>
      </p:sp>
      <p:sp>
        <p:nvSpPr>
          <p:cNvPr id="48" name="TextBox 47"/>
          <p:cNvSpPr txBox="1"/>
          <p:nvPr/>
        </p:nvSpPr>
        <p:spPr>
          <a:xfrm>
            <a:off x="9019032" y="4672584"/>
            <a:ext cx="2365248" cy="548640"/>
          </a:xfrm>
          <a:prstGeom prst="rect">
            <a:avLst/>
          </a:prstGeom>
          <a:noFill/>
        </p:spPr>
        <p:txBody>
          <a:bodyPr wrap="square" lIns="0" tIns="0" rIns="0" bIns="0" anchor="ctr">
            <a:spAutoFit/>
          </a:bodyPr>
          <a:lstStyle/>
          <a:p>
            <a:pPr algn="l"/>
            <a:r>
              <a:rPr sz="1600" b="1" i="0">
                <a:solidFill>
                  <a:srgbClr val="062A4B"/>
                </a:solidFill>
                <a:latin typeface="Arial"/>
              </a:rPr>
              <a:t>How We Overcame</a:t>
            </a:r>
          </a:p>
        </p:txBody>
      </p:sp>
      <p:sp>
        <p:nvSpPr>
          <p:cNvPr id="49" name="TextBox 48"/>
          <p:cNvSpPr txBox="1"/>
          <p:nvPr/>
        </p:nvSpPr>
        <p:spPr>
          <a:xfrm>
            <a:off x="8333232" y="5358384"/>
            <a:ext cx="3005328" cy="676656"/>
          </a:xfrm>
          <a:prstGeom prst="rect">
            <a:avLst/>
          </a:prstGeom>
          <a:noFill/>
        </p:spPr>
        <p:txBody>
          <a:bodyPr wrap="square" lIns="0" tIns="0" rIns="0" bIns="0" anchor="t">
            <a:spAutoFit/>
          </a:bodyPr>
          <a:lstStyle/>
          <a:p>
            <a:pPr algn="l"/>
            <a:r>
              <a:rPr sz="1050" b="0" i="0">
                <a:solidFill>
                  <a:srgbClr val="212121"/>
                </a:solidFill>
                <a:latin typeface="Arial"/>
              </a:rPr>
              <a:t>Regular team meetings, clear PR descriptions, and AI-assisted tooling (Copilot, ChatGPT, Claude Code) accelerated understanding of legacy patterns.</a:t>
            </a:r>
          </a:p>
        </p:txBody>
      </p:sp>
      <p:sp>
        <p:nvSpPr>
          <p:cNvPr id="50" name="Rectangle 49"/>
          <p:cNvSpPr/>
          <p:nvPr/>
        </p:nvSpPr>
        <p:spPr>
          <a:xfrm>
            <a:off x="0" y="6537960"/>
            <a:ext cx="12192000" cy="320040"/>
          </a:xfrm>
          <a:prstGeom prst="rect">
            <a:avLst/>
          </a:prstGeom>
          <a:solidFill>
            <a:srgbClr val="062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5760" y="6565392"/>
            <a:ext cx="2286000" cy="274320"/>
          </a:xfrm>
          <a:prstGeom prst="rect">
            <a:avLst/>
          </a:prstGeom>
          <a:noFill/>
        </p:spPr>
        <p:txBody>
          <a:bodyPr wrap="square" lIns="0" tIns="0" rIns="0" bIns="0" anchor="ctr">
            <a:spAutoFit/>
          </a:bodyPr>
          <a:lstStyle/>
          <a:p>
            <a:pPr algn="l"/>
            <a:r>
              <a:rPr sz="1000" b="0" i="0">
                <a:solidFill>
                  <a:srgbClr val="FFFFFF"/>
                </a:solidFill>
                <a:latin typeface="Arial"/>
              </a:rPr>
              <a:t>Copyright 2026</a:t>
            </a:r>
          </a:p>
        </p:txBody>
      </p:sp>
      <p:sp>
        <p:nvSpPr>
          <p:cNvPr id="52" name="TextBox 51"/>
          <p:cNvSpPr txBox="1"/>
          <p:nvPr/>
        </p:nvSpPr>
        <p:spPr>
          <a:xfrm>
            <a:off x="11430000" y="6565392"/>
            <a:ext cx="548640" cy="274320"/>
          </a:xfrm>
          <a:prstGeom prst="rect">
            <a:avLst/>
          </a:prstGeom>
          <a:noFill/>
        </p:spPr>
        <p:txBody>
          <a:bodyPr wrap="square" lIns="0" tIns="0" rIns="0" bIns="0" anchor="ctr">
            <a:spAutoFit/>
          </a:bodyPr>
          <a:lstStyle/>
          <a:p>
            <a:pPr algn="r"/>
            <a:r>
              <a:rPr sz="1000" b="0" i="0">
                <a:solidFill>
                  <a:srgbClr val="FFFFFF"/>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95360" y="1371600"/>
            <a:ext cx="4114800" cy="4114800"/>
          </a:xfrm>
          <a:prstGeom prst="rect">
            <a:avLst/>
          </a:prstGeom>
        </p:spPr>
      </p:pic>
      <p:sp>
        <p:nvSpPr>
          <p:cNvPr id="3" name="Shape 0"/>
          <p:cNvSpPr/>
          <p:nvPr/>
        </p:nvSpPr>
        <p:spPr>
          <a:xfrm>
            <a:off x="822960" y="1325880"/>
            <a:ext cx="914400" cy="914400"/>
          </a:xfrm>
          <a:prstGeom prst="ellipse">
            <a:avLst/>
          </a:prstGeom>
          <a:solidFill>
            <a:srgbClr val="0D9488"/>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1060704" y="1563624"/>
            <a:ext cx="438912" cy="438912"/>
          </a:xfrm>
          <a:prstGeom prst="rect">
            <a:avLst/>
          </a:prstGeom>
        </p:spPr>
      </p:pic>
      <p:sp>
        <p:nvSpPr>
          <p:cNvPr id="5" name="Text 1"/>
          <p:cNvSpPr/>
          <p:nvPr/>
        </p:nvSpPr>
        <p:spPr>
          <a:xfrm>
            <a:off x="822960" y="2514600"/>
            <a:ext cx="7315200" cy="365760"/>
          </a:xfrm>
          <a:prstGeom prst="rect">
            <a:avLst/>
          </a:prstGeom>
          <a:noFill/>
          <a:ln/>
        </p:spPr>
        <p:txBody>
          <a:bodyPr wrap="square" lIns="0" tIns="0" rIns="0" bIns="0" rtlCol="0" anchor="ctr"/>
          <a:lstStyle/>
          <a:p>
            <a:pPr marL="0" indent="0">
              <a:buNone/>
            </a:pPr>
            <a:r>
              <a:rPr lang="en-US" sz="1500" b="1" kern="0" spc="300" dirty="0">
                <a:solidFill>
                  <a:srgbClr val="2DD4BF"/>
                </a:solidFill>
                <a:latin typeface="Arial" pitchFamily="34" charset="0"/>
                <a:ea typeface="Arial" pitchFamily="34" charset="-122"/>
                <a:cs typeface="Arial" pitchFamily="34" charset="-120"/>
              </a:rPr>
              <a:t>CAPSTONE REFLECTION</a:t>
            </a:r>
            <a:endParaRPr lang="en-US" sz="1500" dirty="0"/>
          </a:p>
        </p:txBody>
      </p:sp>
      <p:sp>
        <p:nvSpPr>
          <p:cNvPr id="6" name="Text 2"/>
          <p:cNvSpPr/>
          <p:nvPr/>
        </p:nvSpPr>
        <p:spPr>
          <a:xfrm>
            <a:off x="804672" y="2880360"/>
            <a:ext cx="10058400" cy="1188720"/>
          </a:xfrm>
          <a:prstGeom prst="rect">
            <a:avLst/>
          </a:prstGeom>
          <a:noFill/>
          <a:ln/>
        </p:spPr>
        <p:txBody>
          <a:bodyPr wrap="square" lIns="0" tIns="0" rIns="0" bIns="0" rtlCol="0" anchor="ctr"/>
          <a:lstStyle/>
          <a:p>
            <a:pPr marL="0" indent="0">
              <a:buNone/>
            </a:pPr>
            <a:r>
              <a:rPr lang="en-US" sz="6000" b="1" dirty="0">
                <a:solidFill>
                  <a:srgbClr val="0C2340"/>
                </a:solidFill>
                <a:latin typeface="Cambria" pitchFamily="34" charset="0"/>
                <a:ea typeface="Cambria" pitchFamily="34" charset="-122"/>
                <a:cs typeface="Cambria" pitchFamily="34" charset="-120"/>
              </a:rPr>
              <a:t>What We Learned</a:t>
            </a:r>
            <a:endParaRPr lang="en-US" sz="6000" dirty="0"/>
          </a:p>
        </p:txBody>
      </p:sp>
      <p:sp>
        <p:nvSpPr>
          <p:cNvPr id="7" name="Text 3"/>
          <p:cNvSpPr/>
          <p:nvPr/>
        </p:nvSpPr>
        <p:spPr>
          <a:xfrm>
            <a:off x="822960" y="4160520"/>
            <a:ext cx="8778240" cy="822960"/>
          </a:xfrm>
          <a:prstGeom prst="rect">
            <a:avLst/>
          </a:prstGeom>
          <a:noFill/>
          <a:ln/>
        </p:spPr>
        <p:txBody>
          <a:bodyPr wrap="square" lIns="0" tIns="0" rIns="0" bIns="0" rtlCol="0" anchor="ctr"/>
          <a:lstStyle/>
          <a:p>
            <a:pPr marL="0" indent="0">
              <a:lnSpc>
                <a:spcPct val="115000"/>
              </a:lnSpc>
              <a:buNone/>
            </a:pPr>
            <a:r>
              <a:rPr lang="en-US" sz="1800" dirty="0">
                <a:solidFill>
                  <a:srgbClr val="94A3B8"/>
                </a:solidFill>
                <a:latin typeface="Arial" pitchFamily="34" charset="0"/>
                <a:ea typeface="Arial" pitchFamily="34" charset="-122"/>
                <a:cs typeface="Arial" pitchFamily="34" charset="-120"/>
              </a:rPr>
              <a:t>The main things we learned while working on this project with Payreq.</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02920"/>
            <a:ext cx="10058400" cy="320040"/>
          </a:xfrm>
          <a:prstGeom prst="rect">
            <a:avLst/>
          </a:prstGeom>
          <a:noFill/>
          <a:ln/>
        </p:spPr>
        <p:txBody>
          <a:bodyPr wrap="square" lIns="0" tIns="0" rIns="0" bIns="0" rtlCol="0" anchor="ctr"/>
          <a:lstStyle/>
          <a:p>
            <a:pPr marL="0" indent="0">
              <a:buNone/>
            </a:pPr>
            <a:r>
              <a:rPr lang="en-US" sz="1300" b="1" kern="0" spc="300" dirty="0">
                <a:solidFill>
                  <a:srgbClr val="0D9488"/>
                </a:solidFill>
                <a:latin typeface="Arial" pitchFamily="34" charset="0"/>
                <a:ea typeface="Arial" pitchFamily="34" charset="-122"/>
                <a:cs typeface="Arial" pitchFamily="34" charset="-120"/>
              </a:rPr>
              <a:t>HOW WE WORKED</a:t>
            </a:r>
            <a:endParaRPr lang="en-US" sz="1300" dirty="0"/>
          </a:p>
        </p:txBody>
      </p:sp>
      <p:sp>
        <p:nvSpPr>
          <p:cNvPr id="3" name="Text 1"/>
          <p:cNvSpPr/>
          <p:nvPr/>
        </p:nvSpPr>
        <p:spPr>
          <a:xfrm>
            <a:off x="621792" y="822960"/>
            <a:ext cx="10972800" cy="777240"/>
          </a:xfrm>
          <a:prstGeom prst="rect">
            <a:avLst/>
          </a:prstGeom>
          <a:noFill/>
          <a:ln/>
        </p:spPr>
        <p:txBody>
          <a:bodyPr wrap="square" lIns="0" tIns="0" rIns="0" bIns="0" rtlCol="0" anchor="ctr"/>
          <a:lstStyle/>
          <a:p>
            <a:pPr marL="0" indent="0">
              <a:buNone/>
            </a:pPr>
            <a:r>
              <a:rPr lang="en-US" sz="3600" b="1" dirty="0">
                <a:solidFill>
                  <a:srgbClr val="1E293B"/>
                </a:solidFill>
                <a:latin typeface="Cambria" pitchFamily="34" charset="0"/>
                <a:ea typeface="Cambria" pitchFamily="34" charset="-122"/>
                <a:cs typeface="Cambria" pitchFamily="34" charset="-120"/>
              </a:rPr>
              <a:t>What We Learned About the Work</a:t>
            </a:r>
            <a:endParaRPr lang="en-US" sz="3600" dirty="0"/>
          </a:p>
        </p:txBody>
      </p:sp>
      <p:sp>
        <p:nvSpPr>
          <p:cNvPr id="4" name="Shape 2"/>
          <p:cNvSpPr/>
          <p:nvPr/>
        </p:nvSpPr>
        <p:spPr>
          <a:xfrm>
            <a:off x="640080" y="1828800"/>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5" name="Shape 3"/>
          <p:cNvSpPr/>
          <p:nvPr/>
        </p:nvSpPr>
        <p:spPr>
          <a:xfrm>
            <a:off x="914400" y="1933956"/>
            <a:ext cx="658368" cy="658368"/>
          </a:xfrm>
          <a:prstGeom prst="ellipse">
            <a:avLst/>
          </a:prstGeom>
          <a:solidFill>
            <a:srgbClr val="0D948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42416" y="2061972"/>
            <a:ext cx="402336" cy="402336"/>
          </a:xfrm>
          <a:prstGeom prst="rect">
            <a:avLst/>
          </a:prstGeom>
        </p:spPr>
      </p:pic>
      <p:sp>
        <p:nvSpPr>
          <p:cNvPr id="7" name="Text 4"/>
          <p:cNvSpPr/>
          <p:nvPr/>
        </p:nvSpPr>
        <p:spPr>
          <a:xfrm>
            <a:off x="1965960" y="1947672"/>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Break big work into small pieces</a:t>
            </a:r>
            <a:endParaRPr lang="en-US" sz="1700" dirty="0"/>
          </a:p>
        </p:txBody>
      </p:sp>
      <p:sp>
        <p:nvSpPr>
          <p:cNvPr id="8" name="Text 5"/>
          <p:cNvSpPr/>
          <p:nvPr/>
        </p:nvSpPr>
        <p:spPr>
          <a:xfrm>
            <a:off x="1965960" y="2286000"/>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Doing everything at once caused problems. Working on one screen at a time let everyone make progress without getting in each other's way.</a:t>
            </a:r>
            <a:endParaRPr lang="en-US" sz="1150" dirty="0"/>
          </a:p>
        </p:txBody>
      </p:sp>
      <p:sp>
        <p:nvSpPr>
          <p:cNvPr id="9" name="Shape 6"/>
          <p:cNvSpPr/>
          <p:nvPr/>
        </p:nvSpPr>
        <p:spPr>
          <a:xfrm>
            <a:off x="640080" y="2752344"/>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10" name="Shape 7"/>
          <p:cNvSpPr/>
          <p:nvPr/>
        </p:nvSpPr>
        <p:spPr>
          <a:xfrm>
            <a:off x="914400" y="2857500"/>
            <a:ext cx="658368" cy="658368"/>
          </a:xfrm>
          <a:prstGeom prst="ellipse">
            <a:avLst/>
          </a:prstGeom>
          <a:solidFill>
            <a:srgbClr val="0D948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1042416" y="2985516"/>
            <a:ext cx="402336" cy="402336"/>
          </a:xfrm>
          <a:prstGeom prst="rect">
            <a:avLst/>
          </a:prstGeom>
        </p:spPr>
      </p:pic>
      <p:sp>
        <p:nvSpPr>
          <p:cNvPr id="12" name="Text 8"/>
          <p:cNvSpPr/>
          <p:nvPr/>
        </p:nvSpPr>
        <p:spPr>
          <a:xfrm>
            <a:off x="1965960" y="2871216"/>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AI helps, but people are responsible</a:t>
            </a:r>
            <a:endParaRPr lang="en-US" sz="1700" dirty="0"/>
          </a:p>
        </p:txBody>
      </p:sp>
      <p:sp>
        <p:nvSpPr>
          <p:cNvPr id="13" name="Text 9"/>
          <p:cNvSpPr/>
          <p:nvPr/>
        </p:nvSpPr>
        <p:spPr>
          <a:xfrm>
            <a:off x="1965960" y="3209544"/>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AI wrote the first draft of each screen, which saved time. A team member still read, fixed, and tested every line before it went in.</a:t>
            </a:r>
            <a:endParaRPr lang="en-US" sz="1150" dirty="0"/>
          </a:p>
        </p:txBody>
      </p:sp>
      <p:sp>
        <p:nvSpPr>
          <p:cNvPr id="14" name="Shape 10"/>
          <p:cNvSpPr/>
          <p:nvPr/>
        </p:nvSpPr>
        <p:spPr>
          <a:xfrm>
            <a:off x="640080" y="3675888"/>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15" name="Shape 11"/>
          <p:cNvSpPr/>
          <p:nvPr/>
        </p:nvSpPr>
        <p:spPr>
          <a:xfrm>
            <a:off x="914400" y="3781044"/>
            <a:ext cx="658368" cy="658368"/>
          </a:xfrm>
          <a:prstGeom prst="ellipse">
            <a:avLst/>
          </a:prstGeom>
          <a:solidFill>
            <a:srgbClr val="0D9488"/>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42416" y="3909060"/>
            <a:ext cx="402336" cy="402336"/>
          </a:xfrm>
          <a:prstGeom prst="rect">
            <a:avLst/>
          </a:prstGeom>
        </p:spPr>
      </p:pic>
      <p:sp>
        <p:nvSpPr>
          <p:cNvPr id="17" name="Text 12"/>
          <p:cNvSpPr/>
          <p:nvPr/>
        </p:nvSpPr>
        <p:spPr>
          <a:xfrm>
            <a:off x="1965960" y="3794760"/>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Always check against the real thing</a:t>
            </a:r>
            <a:endParaRPr lang="en-US" sz="1700" dirty="0"/>
          </a:p>
        </p:txBody>
      </p:sp>
      <p:sp>
        <p:nvSpPr>
          <p:cNvPr id="18" name="Text 13"/>
          <p:cNvSpPr/>
          <p:nvPr/>
        </p:nvSpPr>
        <p:spPr>
          <a:xfrm>
            <a:off x="1965960" y="4133088"/>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We compared every screen with the live Payreq site. Code that runs is not always code that is correct.</a:t>
            </a:r>
            <a:endParaRPr lang="en-US" sz="1150" dirty="0"/>
          </a:p>
        </p:txBody>
      </p:sp>
      <p:sp>
        <p:nvSpPr>
          <p:cNvPr id="19" name="Shape 14"/>
          <p:cNvSpPr/>
          <p:nvPr/>
        </p:nvSpPr>
        <p:spPr>
          <a:xfrm>
            <a:off x="640080" y="4599432"/>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20" name="Shape 15"/>
          <p:cNvSpPr/>
          <p:nvPr/>
        </p:nvSpPr>
        <p:spPr>
          <a:xfrm>
            <a:off x="914400" y="4704588"/>
            <a:ext cx="658368" cy="658368"/>
          </a:xfrm>
          <a:prstGeom prst="ellipse">
            <a:avLst/>
          </a:prstGeom>
          <a:solidFill>
            <a:srgbClr val="0D9488"/>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1042416" y="4832604"/>
            <a:ext cx="402336" cy="402336"/>
          </a:xfrm>
          <a:prstGeom prst="rect">
            <a:avLst/>
          </a:prstGeom>
        </p:spPr>
      </p:pic>
      <p:sp>
        <p:nvSpPr>
          <p:cNvPr id="22" name="Text 16"/>
          <p:cNvSpPr/>
          <p:nvPr/>
        </p:nvSpPr>
        <p:spPr>
          <a:xfrm>
            <a:off x="1965960" y="4718304"/>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Give every task a clear owner</a:t>
            </a:r>
            <a:endParaRPr lang="en-US" sz="1700" dirty="0"/>
          </a:p>
        </p:txBody>
      </p:sp>
      <p:sp>
        <p:nvSpPr>
          <p:cNvPr id="23" name="Text 17"/>
          <p:cNvSpPr/>
          <p:nvPr/>
        </p:nvSpPr>
        <p:spPr>
          <a:xfrm>
            <a:off x="1965960" y="5056632"/>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Each screen had one person building it and one person checking it, so nothing was missed and someone was always responsible.</a:t>
            </a:r>
            <a:endParaRPr lang="en-US" sz="1150" dirty="0"/>
          </a:p>
        </p:txBody>
      </p:sp>
      <p:sp>
        <p:nvSpPr>
          <p:cNvPr id="24" name="Shape 18"/>
          <p:cNvSpPr/>
          <p:nvPr/>
        </p:nvSpPr>
        <p:spPr>
          <a:xfrm>
            <a:off x="640080" y="5522976"/>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25" name="Shape 19"/>
          <p:cNvSpPr/>
          <p:nvPr/>
        </p:nvSpPr>
        <p:spPr>
          <a:xfrm>
            <a:off x="914400" y="5628132"/>
            <a:ext cx="658368" cy="658368"/>
          </a:xfrm>
          <a:prstGeom prst="ellipse">
            <a:avLst/>
          </a:prstGeom>
          <a:solidFill>
            <a:srgbClr val="0D9488"/>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1042416" y="5756148"/>
            <a:ext cx="402336" cy="402336"/>
          </a:xfrm>
          <a:prstGeom prst="rect">
            <a:avLst/>
          </a:prstGeom>
        </p:spPr>
      </p:pic>
      <p:sp>
        <p:nvSpPr>
          <p:cNvPr id="27" name="Text 20"/>
          <p:cNvSpPr/>
          <p:nvPr/>
        </p:nvSpPr>
        <p:spPr>
          <a:xfrm>
            <a:off x="1965960" y="5641848"/>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Good preparation saves time</a:t>
            </a:r>
            <a:endParaRPr lang="en-US" sz="1700" dirty="0"/>
          </a:p>
        </p:txBody>
      </p:sp>
      <p:sp>
        <p:nvSpPr>
          <p:cNvPr id="28" name="Text 21"/>
          <p:cNvSpPr/>
          <p:nvPr/>
        </p:nvSpPr>
        <p:spPr>
          <a:xfrm>
            <a:off x="1965960" y="5980176"/>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We wrote no code in the first week, but agreeing on the plan, tools, and access early made everything after that faster.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02920"/>
            <a:ext cx="10058400" cy="320040"/>
          </a:xfrm>
          <a:prstGeom prst="rect">
            <a:avLst/>
          </a:prstGeom>
          <a:noFill/>
          <a:ln/>
        </p:spPr>
        <p:txBody>
          <a:bodyPr wrap="square" lIns="0" tIns="0" rIns="0" bIns="0" rtlCol="0" anchor="ctr"/>
          <a:lstStyle/>
          <a:p>
            <a:pPr marL="0" indent="0">
              <a:buNone/>
            </a:pPr>
            <a:r>
              <a:rPr lang="en-US" sz="1300" b="1" kern="0" spc="300" dirty="0">
                <a:solidFill>
                  <a:srgbClr val="0D9488"/>
                </a:solidFill>
                <a:latin typeface="Arial" pitchFamily="34" charset="0"/>
                <a:ea typeface="Arial" pitchFamily="34" charset="-122"/>
                <a:cs typeface="Arial" pitchFamily="34" charset="-120"/>
              </a:rPr>
              <a:t>WORKING WITH A REAL CLIENT</a:t>
            </a:r>
            <a:endParaRPr lang="en-US" sz="1300" dirty="0"/>
          </a:p>
        </p:txBody>
      </p:sp>
      <p:sp>
        <p:nvSpPr>
          <p:cNvPr id="3" name="Text 1"/>
          <p:cNvSpPr/>
          <p:nvPr/>
        </p:nvSpPr>
        <p:spPr>
          <a:xfrm>
            <a:off x="621792" y="822960"/>
            <a:ext cx="10972800" cy="777240"/>
          </a:xfrm>
          <a:prstGeom prst="rect">
            <a:avLst/>
          </a:prstGeom>
          <a:noFill/>
          <a:ln/>
        </p:spPr>
        <p:txBody>
          <a:bodyPr wrap="square" lIns="0" tIns="0" rIns="0" bIns="0" rtlCol="0" anchor="ctr"/>
          <a:lstStyle/>
          <a:p>
            <a:pPr marL="0" indent="0">
              <a:buNone/>
            </a:pPr>
            <a:r>
              <a:rPr lang="en-US" sz="3600" b="1" dirty="0">
                <a:solidFill>
                  <a:srgbClr val="1E293B"/>
                </a:solidFill>
                <a:latin typeface="Cambria" pitchFamily="34" charset="0"/>
                <a:ea typeface="Cambria" pitchFamily="34" charset="-122"/>
                <a:cs typeface="Cambria" pitchFamily="34" charset="-120"/>
              </a:rPr>
              <a:t>What We Learned From Our Client</a:t>
            </a:r>
            <a:endParaRPr lang="en-US" sz="3600" dirty="0"/>
          </a:p>
        </p:txBody>
      </p:sp>
      <p:sp>
        <p:nvSpPr>
          <p:cNvPr id="4" name="Shape 2"/>
          <p:cNvSpPr/>
          <p:nvPr/>
        </p:nvSpPr>
        <p:spPr>
          <a:xfrm>
            <a:off x="640080" y="1828800"/>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5" name="Shape 3"/>
          <p:cNvSpPr/>
          <p:nvPr/>
        </p:nvSpPr>
        <p:spPr>
          <a:xfrm>
            <a:off x="914400" y="1933956"/>
            <a:ext cx="658368" cy="658368"/>
          </a:xfrm>
          <a:prstGeom prst="ellipse">
            <a:avLst/>
          </a:prstGeom>
          <a:solidFill>
            <a:srgbClr val="0D948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42416" y="2061972"/>
            <a:ext cx="402336" cy="402336"/>
          </a:xfrm>
          <a:prstGeom prst="rect">
            <a:avLst/>
          </a:prstGeom>
        </p:spPr>
      </p:pic>
      <p:sp>
        <p:nvSpPr>
          <p:cNvPr id="7" name="Text 4"/>
          <p:cNvSpPr/>
          <p:nvPr/>
        </p:nvSpPr>
        <p:spPr>
          <a:xfrm>
            <a:off x="1965960" y="1947672"/>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Working code is not enough</a:t>
            </a:r>
            <a:endParaRPr lang="en-US" sz="1700" dirty="0"/>
          </a:p>
        </p:txBody>
      </p:sp>
      <p:sp>
        <p:nvSpPr>
          <p:cNvPr id="8" name="Text 5"/>
          <p:cNvSpPr/>
          <p:nvPr/>
        </p:nvSpPr>
        <p:spPr>
          <a:xfrm>
            <a:off x="1965960" y="2286000"/>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Payreq checked how our code was written and named, not just whether it ran. We learned to write code that others can read and maintain.</a:t>
            </a:r>
            <a:endParaRPr lang="en-US" sz="1150" dirty="0"/>
          </a:p>
        </p:txBody>
      </p:sp>
      <p:sp>
        <p:nvSpPr>
          <p:cNvPr id="9" name="Shape 6"/>
          <p:cNvSpPr/>
          <p:nvPr/>
        </p:nvSpPr>
        <p:spPr>
          <a:xfrm>
            <a:off x="640080" y="2752344"/>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10" name="Shape 7"/>
          <p:cNvSpPr/>
          <p:nvPr/>
        </p:nvSpPr>
        <p:spPr>
          <a:xfrm>
            <a:off x="914400" y="2857500"/>
            <a:ext cx="658368" cy="658368"/>
          </a:xfrm>
          <a:prstGeom prst="ellipse">
            <a:avLst/>
          </a:prstGeom>
          <a:solidFill>
            <a:srgbClr val="0D948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1042416" y="2985516"/>
            <a:ext cx="402336" cy="402336"/>
          </a:xfrm>
          <a:prstGeom prst="rect">
            <a:avLst/>
          </a:prstGeom>
        </p:spPr>
      </p:pic>
      <p:sp>
        <p:nvSpPr>
          <p:cNvPr id="12" name="Text 8"/>
          <p:cNvSpPr/>
          <p:nvPr/>
        </p:nvSpPr>
        <p:spPr>
          <a:xfrm>
            <a:off x="1965960" y="2871216"/>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Feedback makes you better</a:t>
            </a:r>
            <a:endParaRPr lang="en-US" sz="1700" dirty="0"/>
          </a:p>
        </p:txBody>
      </p:sp>
      <p:sp>
        <p:nvSpPr>
          <p:cNvPr id="13" name="Text 9"/>
          <p:cNvSpPr/>
          <p:nvPr/>
        </p:nvSpPr>
        <p:spPr>
          <a:xfrm>
            <a:off x="1965960" y="3209544"/>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Every review taught us a bit more about what the client expected, and we used those lessons on the next screen.</a:t>
            </a:r>
            <a:endParaRPr lang="en-US" sz="1150" dirty="0"/>
          </a:p>
        </p:txBody>
      </p:sp>
      <p:sp>
        <p:nvSpPr>
          <p:cNvPr id="14" name="Shape 10"/>
          <p:cNvSpPr/>
          <p:nvPr/>
        </p:nvSpPr>
        <p:spPr>
          <a:xfrm>
            <a:off x="640080" y="3675888"/>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15" name="Shape 11"/>
          <p:cNvSpPr/>
          <p:nvPr/>
        </p:nvSpPr>
        <p:spPr>
          <a:xfrm>
            <a:off x="914400" y="3781044"/>
            <a:ext cx="658368" cy="658368"/>
          </a:xfrm>
          <a:prstGeom prst="ellipse">
            <a:avLst/>
          </a:prstGeom>
          <a:solidFill>
            <a:srgbClr val="0D9488"/>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42416" y="3909060"/>
            <a:ext cx="402336" cy="402336"/>
          </a:xfrm>
          <a:prstGeom prst="rect">
            <a:avLst/>
          </a:prstGeom>
        </p:spPr>
      </p:pic>
      <p:sp>
        <p:nvSpPr>
          <p:cNvPr id="17" name="Text 12"/>
          <p:cNvSpPr/>
          <p:nvPr/>
        </p:nvSpPr>
        <p:spPr>
          <a:xfrm>
            <a:off x="1965960" y="3794760"/>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Working inside a real company</a:t>
            </a:r>
            <a:endParaRPr lang="en-US" sz="1700" dirty="0"/>
          </a:p>
        </p:txBody>
      </p:sp>
      <p:sp>
        <p:nvSpPr>
          <p:cNvPr id="18" name="Text 13"/>
          <p:cNvSpPr/>
          <p:nvPr/>
        </p:nvSpPr>
        <p:spPr>
          <a:xfrm>
            <a:off x="1965960" y="4133088"/>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We had our own branch, Slack access, and accounts, and learned how to work safely inside a company's live systems.</a:t>
            </a:r>
            <a:endParaRPr lang="en-US" sz="1150" dirty="0"/>
          </a:p>
        </p:txBody>
      </p:sp>
      <p:sp>
        <p:nvSpPr>
          <p:cNvPr id="19" name="Shape 14"/>
          <p:cNvSpPr/>
          <p:nvPr/>
        </p:nvSpPr>
        <p:spPr>
          <a:xfrm>
            <a:off x="640080" y="4599432"/>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20" name="Shape 15"/>
          <p:cNvSpPr/>
          <p:nvPr/>
        </p:nvSpPr>
        <p:spPr>
          <a:xfrm>
            <a:off x="914400" y="4704588"/>
            <a:ext cx="658368" cy="658368"/>
          </a:xfrm>
          <a:prstGeom prst="ellipse">
            <a:avLst/>
          </a:prstGeom>
          <a:solidFill>
            <a:srgbClr val="0D9488"/>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1042416" y="4832604"/>
            <a:ext cx="402336" cy="402336"/>
          </a:xfrm>
          <a:prstGeom prst="rect">
            <a:avLst/>
          </a:prstGeom>
        </p:spPr>
      </p:pic>
      <p:sp>
        <p:nvSpPr>
          <p:cNvPr id="22" name="Text 16"/>
          <p:cNvSpPr/>
          <p:nvPr/>
        </p:nvSpPr>
        <p:spPr>
          <a:xfrm>
            <a:off x="1965960" y="4718304"/>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Talk often to stay on the same page</a:t>
            </a:r>
            <a:endParaRPr lang="en-US" sz="1700" dirty="0"/>
          </a:p>
        </p:txBody>
      </p:sp>
      <p:sp>
        <p:nvSpPr>
          <p:cNvPr id="23" name="Text 17"/>
          <p:cNvSpPr/>
          <p:nvPr/>
        </p:nvSpPr>
        <p:spPr>
          <a:xfrm>
            <a:off x="1965960" y="5056632"/>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Regular meetings and shared channels meant everyone knew what was happening, and small problems were caught early.</a:t>
            </a:r>
            <a:endParaRPr lang="en-US" sz="1150" dirty="0"/>
          </a:p>
        </p:txBody>
      </p:sp>
      <p:sp>
        <p:nvSpPr>
          <p:cNvPr id="24" name="Shape 18"/>
          <p:cNvSpPr/>
          <p:nvPr/>
        </p:nvSpPr>
        <p:spPr>
          <a:xfrm>
            <a:off x="640080" y="5522976"/>
            <a:ext cx="10911535" cy="868680"/>
          </a:xfrm>
          <a:prstGeom prst="roundRect">
            <a:avLst>
              <a:gd name="adj" fmla="val 9639"/>
            </a:avLst>
          </a:prstGeom>
          <a:solidFill>
            <a:srgbClr val="F1F5F9"/>
          </a:solidFill>
          <a:ln/>
          <a:effectLst>
            <a:outerShdw blurRad="101600" dist="25400" dir="5400000" algn="bl" rotWithShape="0">
              <a:srgbClr val="000000">
                <a:alpha val="10000"/>
              </a:srgbClr>
            </a:outerShdw>
          </a:effectLst>
        </p:spPr>
        <p:txBody>
          <a:bodyPr/>
          <a:lstStyle/>
          <a:p>
            <a:endParaRPr lang="en-US"/>
          </a:p>
        </p:txBody>
      </p:sp>
      <p:sp>
        <p:nvSpPr>
          <p:cNvPr id="25" name="Shape 19"/>
          <p:cNvSpPr/>
          <p:nvPr/>
        </p:nvSpPr>
        <p:spPr>
          <a:xfrm>
            <a:off x="914400" y="5628132"/>
            <a:ext cx="658368" cy="658368"/>
          </a:xfrm>
          <a:prstGeom prst="ellipse">
            <a:avLst/>
          </a:prstGeom>
          <a:solidFill>
            <a:srgbClr val="0D9488"/>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1042416" y="5756148"/>
            <a:ext cx="402336" cy="402336"/>
          </a:xfrm>
          <a:prstGeom prst="rect">
            <a:avLst/>
          </a:prstGeom>
        </p:spPr>
      </p:pic>
      <p:sp>
        <p:nvSpPr>
          <p:cNvPr id="27" name="Text 20"/>
          <p:cNvSpPr/>
          <p:nvPr/>
        </p:nvSpPr>
        <p:spPr>
          <a:xfrm>
            <a:off x="1965960" y="5641848"/>
            <a:ext cx="9265615" cy="329184"/>
          </a:xfrm>
          <a:prstGeom prst="rect">
            <a:avLst/>
          </a:prstGeom>
          <a:noFill/>
          <a:ln/>
        </p:spPr>
        <p:txBody>
          <a:bodyPr wrap="square" lIns="0" tIns="0" rIns="0" bIns="0" rtlCol="0" anchor="ctr"/>
          <a:lstStyle/>
          <a:p>
            <a:pPr marL="0" indent="0">
              <a:buNone/>
            </a:pPr>
            <a:r>
              <a:rPr lang="en-US" sz="1700" b="1" dirty="0">
                <a:solidFill>
                  <a:srgbClr val="1E293B"/>
                </a:solidFill>
                <a:latin typeface="Arial" pitchFamily="34" charset="0"/>
                <a:ea typeface="Arial" pitchFamily="34" charset="-122"/>
                <a:cs typeface="Arial" pitchFamily="34" charset="-120"/>
              </a:rPr>
              <a:t>Change the plan when it is not working</a:t>
            </a:r>
            <a:endParaRPr lang="en-US" sz="1700" dirty="0"/>
          </a:p>
        </p:txBody>
      </p:sp>
      <p:sp>
        <p:nvSpPr>
          <p:cNvPr id="28" name="Text 21"/>
          <p:cNvSpPr/>
          <p:nvPr/>
        </p:nvSpPr>
        <p:spPr>
          <a:xfrm>
            <a:off x="1965960" y="5980176"/>
            <a:ext cx="9265615" cy="384048"/>
          </a:xfrm>
          <a:prstGeom prst="rect">
            <a:avLst/>
          </a:prstGeom>
          <a:noFill/>
          <a:ln/>
        </p:spPr>
        <p:txBody>
          <a:bodyPr wrap="square" lIns="0" tIns="0" rIns="0" bIns="0" rtlCol="0" anchor="t"/>
          <a:lstStyle/>
          <a:p>
            <a:pPr marL="0" indent="0">
              <a:lnSpc>
                <a:spcPct val="105000"/>
              </a:lnSpc>
              <a:buNone/>
            </a:pPr>
            <a:r>
              <a:rPr lang="en-US" sz="1150" dirty="0">
                <a:solidFill>
                  <a:srgbClr val="475569"/>
                </a:solidFill>
                <a:latin typeface="Arial" pitchFamily="34" charset="0"/>
                <a:ea typeface="Arial" pitchFamily="34" charset="-122"/>
                <a:cs typeface="Arial" pitchFamily="34" charset="-120"/>
              </a:rPr>
              <a:t>We saw early that our first plan was failing, so we switched to a better one instead of pushing through.</a:t>
            </a:r>
            <a:endParaRPr lang="en-US" sz="115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PLUS_SLIDE_ID" val="fiXPOAGczSPPY2Y6NjKHou"/>
  <p:tag name="PLUS_SLIDE_PPT_ID" val="365#2331437246"/>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PLUS_ID" val="presentation_title"/>
</p:tagLst>
</file>

<file path=ppt/tags/tag10.xml><?xml version="1.0" encoding="utf-8"?>
<p:tagLst xmlns:a="http://schemas.openxmlformats.org/drawingml/2006/main" xmlns:r="http://schemas.openxmlformats.org/officeDocument/2006/relationships" xmlns:p="http://schemas.openxmlformats.org/presentationml/2006/main">
  <p:tag name="PLUS_ID" val="date"/>
</p:tagLst>
</file>

<file path=ppt/tags/tag11.xml><?xml version="1.0" encoding="utf-8"?>
<p:tagLst xmlns:a="http://schemas.openxmlformats.org/drawingml/2006/main" xmlns:r="http://schemas.openxmlformats.org/officeDocument/2006/relationships" xmlns:p="http://schemas.openxmlformats.org/presentationml/2006/main">
  <p:tag name="PLUS_SLIDE_ID" val="fiXPOAGczSPPY2Y6NjKHou"/>
  <p:tag name="PLUS_SLIDE_PPT_ID" val="365#2331437246"/>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PLUS_ID" val="presentation_title"/>
</p:tagLst>
</file>

<file path=ppt/tags/tag14.xml><?xml version="1.0" encoding="utf-8"?>
<p:tagLst xmlns:a="http://schemas.openxmlformats.org/drawingml/2006/main" xmlns:r="http://schemas.openxmlformats.org/officeDocument/2006/relationships" xmlns:p="http://schemas.openxmlformats.org/presentationml/2006/main">
  <p:tag name="PLUS_SLIDE_PPT_ID" val="343#2959232056"/>
  <p:tag name="PLUS_SLIDE_ID" val="iG190W6PEa3wEoxBjE8zOz"/>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PLUS_ID" val="title"/>
</p:tagLst>
</file>

<file path=ppt/tags/tag17.xml><?xml version="1.0" encoding="utf-8"?>
<p:tagLst xmlns:a="http://schemas.openxmlformats.org/drawingml/2006/main" xmlns:r="http://schemas.openxmlformats.org/officeDocument/2006/relationships" xmlns:p="http://schemas.openxmlformats.org/presentationml/2006/main">
  <p:tag name="PLUS_ID" val="chapter"/>
</p:tagLst>
</file>

<file path=ppt/tags/tag18.xml><?xml version="1.0" encoding="utf-8"?>
<p:tagLst xmlns:a="http://schemas.openxmlformats.org/drawingml/2006/main" xmlns:r="http://schemas.openxmlformats.org/officeDocument/2006/relationships" xmlns:p="http://schemas.openxmlformats.org/presentationml/2006/main">
  <p:tag name="PLUS_ID" val="takeaway"/>
</p:tagLst>
</file>

<file path=ppt/tags/tag19.xml><?xml version="1.0" encoding="utf-8"?>
<p:tagLst xmlns:a="http://schemas.openxmlformats.org/drawingml/2006/main" xmlns:r="http://schemas.openxmlformats.org/officeDocument/2006/relationships" xmlns:p="http://schemas.openxmlformats.org/presentationml/2006/main">
  <p:tag name="PLUS_ID" val="detail"/>
</p:tagLst>
</file>

<file path=ppt/tags/tag20.xml><?xml version="1.0" encoding="utf-8"?>
<p:tagLst xmlns:a="http://schemas.openxmlformats.org/drawingml/2006/main" xmlns:r="http://schemas.openxmlformats.org/officeDocument/2006/relationships" xmlns:p="http://schemas.openxmlformats.org/presentationml/2006/main">
  <p:tag name="PLUS_ID" val="header"/>
</p:tagLst>
</file>

<file path=ppt/tags/tag21.xml><?xml version="1.0" encoding="utf-8"?>
<p:tagLst xmlns:a="http://schemas.openxmlformats.org/drawingml/2006/main" xmlns:r="http://schemas.openxmlformats.org/officeDocument/2006/relationships" xmlns:p="http://schemas.openxmlformats.org/presentationml/2006/main">
  <p:tag name="PLUS_SLIDE_ID" val="iG190W6PEa3wEoxBjE8cUY"/>
  <p:tag name="PLUS_SLIDE_PPT_ID" val="325#3827814284"/>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PLUS_ID" val="title"/>
</p:tagLst>
</file>

<file path=ppt/tags/tag24.xml><?xml version="1.0" encoding="utf-8"?>
<p:tagLst xmlns:a="http://schemas.openxmlformats.org/drawingml/2006/main" xmlns:r="http://schemas.openxmlformats.org/officeDocument/2006/relationships" xmlns:p="http://schemas.openxmlformats.org/presentationml/2006/main">
  <p:tag name="PLUS_ID" val="chapter"/>
</p:tagLst>
</file>

<file path=ppt/tags/tag25.xml><?xml version="1.0" encoding="utf-8"?>
<p:tagLst xmlns:a="http://schemas.openxmlformats.org/drawingml/2006/main" xmlns:r="http://schemas.openxmlformats.org/officeDocument/2006/relationships" xmlns:p="http://schemas.openxmlformats.org/presentationml/2006/main">
  <p:tag name="PLUS_ID" val="takeaway"/>
</p:tagLst>
</file>

<file path=ppt/tags/tag26.xml><?xml version="1.0" encoding="utf-8"?>
<p:tagLst xmlns:a="http://schemas.openxmlformats.org/drawingml/2006/main" xmlns:r="http://schemas.openxmlformats.org/officeDocument/2006/relationships" xmlns:p="http://schemas.openxmlformats.org/presentationml/2006/main">
  <p:tag name="PLUS_ID" val="detail_0"/>
</p:tagLst>
</file>

<file path=ppt/tags/tag27.xml><?xml version="1.0" encoding="utf-8"?>
<p:tagLst xmlns:a="http://schemas.openxmlformats.org/drawingml/2006/main" xmlns:r="http://schemas.openxmlformats.org/officeDocument/2006/relationships" xmlns:p="http://schemas.openxmlformats.org/presentationml/2006/main">
  <p:tag name="PLUS_ID" val="header_0"/>
</p:tagLst>
</file>

<file path=ppt/tags/tag28.xml><?xml version="1.0" encoding="utf-8"?>
<p:tagLst xmlns:a="http://schemas.openxmlformats.org/drawingml/2006/main" xmlns:r="http://schemas.openxmlformats.org/officeDocument/2006/relationships" xmlns:p="http://schemas.openxmlformats.org/presentationml/2006/main">
  <p:tag name="PLUS_ID" val="detail_1"/>
</p:tagLst>
</file>

<file path=ppt/tags/tag29.xml><?xml version="1.0" encoding="utf-8"?>
<p:tagLst xmlns:a="http://schemas.openxmlformats.org/drawingml/2006/main" xmlns:r="http://schemas.openxmlformats.org/officeDocument/2006/relationships" xmlns:p="http://schemas.openxmlformats.org/presentationml/2006/main">
  <p:tag name="PLUS_ID" val="header_1"/>
</p:tagLst>
</file>

<file path=ppt/theme/theme1.xml><?xml version="1.0" encoding="utf-8"?>
<a:theme xmlns:a="http://schemas.openxmlformats.org/drawingml/2006/main" name="office theme">
  <a:themeElements>
    <a:clrScheme name="Insight">
      <a:dk1>
        <a:srgbClr val="000000"/>
      </a:dk1>
      <a:lt1>
        <a:srgbClr val="FFFFFF"/>
      </a:lt1>
      <a:dk2>
        <a:srgbClr val="2C3C5A"/>
      </a:dk2>
      <a:lt2>
        <a:srgbClr val="F1F3F5"/>
      </a:lt2>
      <a:accent1>
        <a:srgbClr val="465674"/>
      </a:accent1>
      <a:accent2>
        <a:srgbClr val="6893C1"/>
      </a:accent2>
      <a:accent3>
        <a:srgbClr val="A1B6C7"/>
      </a:accent3>
      <a:accent4>
        <a:srgbClr val="637A96"/>
      </a:accent4>
      <a:accent5>
        <a:srgbClr val="BFCCCD"/>
      </a:accent5>
      <a:accent6>
        <a:srgbClr val="E6E3E1"/>
      </a:accent6>
      <a:hlink>
        <a:srgbClr val="96607D"/>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Insight">
      <a:dk1>
        <a:srgbClr val="000000"/>
      </a:dk1>
      <a:lt1>
        <a:srgbClr val="FFFFFF"/>
      </a:lt1>
      <a:dk2>
        <a:srgbClr val="2C3C5A"/>
      </a:dk2>
      <a:lt2>
        <a:srgbClr val="F1F3F5"/>
      </a:lt2>
      <a:accent1>
        <a:srgbClr val="465674"/>
      </a:accent1>
      <a:accent2>
        <a:srgbClr val="6893C1"/>
      </a:accent2>
      <a:accent3>
        <a:srgbClr val="A1B6C7"/>
      </a:accent3>
      <a:accent4>
        <a:srgbClr val="637A96"/>
      </a:accent4>
      <a:accent5>
        <a:srgbClr val="BFCCCD"/>
      </a:accent5>
      <a:accent6>
        <a:srgbClr val="E6E3E1"/>
      </a:accent6>
      <a:hlink>
        <a:srgbClr val="96607D"/>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Insight">
      <a:dk1>
        <a:srgbClr val="000000"/>
      </a:dk1>
      <a:lt1>
        <a:srgbClr val="FFFFFF"/>
      </a:lt1>
      <a:dk2>
        <a:srgbClr val="2C3C5A"/>
      </a:dk2>
      <a:lt2>
        <a:srgbClr val="F1F3F5"/>
      </a:lt2>
      <a:accent1>
        <a:srgbClr val="465674"/>
      </a:accent1>
      <a:accent2>
        <a:srgbClr val="6893C1"/>
      </a:accent2>
      <a:accent3>
        <a:srgbClr val="A1B6C7"/>
      </a:accent3>
      <a:accent4>
        <a:srgbClr val="637A96"/>
      </a:accent4>
      <a:accent5>
        <a:srgbClr val="BFCCCD"/>
      </a:accent5>
      <a:accent6>
        <a:srgbClr val="E6E3E1"/>
      </a:accent6>
      <a:hlink>
        <a:srgbClr val="96607D"/>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1812</Words>
  <Application>Microsoft Macintosh PowerPoint</Application>
  <PresentationFormat>Widescreen</PresentationFormat>
  <Paragraphs>259</Paragraphs>
  <Slides>14</Slides>
  <Notes>6</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14</vt:i4>
      </vt:variant>
    </vt:vector>
  </HeadingPairs>
  <TitlesOfParts>
    <vt:vector size="22" baseType="lpstr">
      <vt:lpstr>Aptos</vt:lpstr>
      <vt:lpstr>Arial</vt:lpstr>
      <vt:lpstr>Calibri</vt:lpstr>
      <vt:lpstr>Cambria</vt:lpstr>
      <vt:lpstr>office theme</vt:lpstr>
      <vt:lpstr>office theme</vt:lpstr>
      <vt:lpstr>office theme</vt:lpstr>
      <vt:lpstr>think-cell Slide</vt:lpstr>
      <vt:lpstr>PowerPoint Presentation</vt:lpstr>
      <vt:lpstr>PowerPoint Presentation</vt:lpstr>
      <vt:lpstr>Who is Payreq?</vt:lpstr>
      <vt:lpstr>Payreq.com</vt:lpstr>
      <vt:lpstr>The Big Picture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Shakhabov</dc:creator>
  <cp:lastModifiedBy>eyob Worku</cp:lastModifiedBy>
  <cp:revision>5</cp:revision>
  <dcterms:created xsi:type="dcterms:W3CDTF">2023-07-09T20:28:40Z</dcterms:created>
  <dcterms:modified xsi:type="dcterms:W3CDTF">2026-06-13T00:02:17Z</dcterms:modified>
</cp:coreProperties>
</file>